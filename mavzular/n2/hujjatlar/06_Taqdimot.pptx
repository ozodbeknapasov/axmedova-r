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Bugungi mavzu: oftalmologik kasalliklar bilan og‘rigan bemorlarda hamshiralik ishi. Biz bemorlarning asosiy muammolari, hamshiralik muolajalari va ko‘rish o‘tkirligini tekshirishni o‘rganamiz.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Mashg‘ulot uch savoldan iborat: hamshiralik ishining xususiyatlari va asosiy simptomlar, hamshiralik muolajalari va operatsiya davridagi parvarish, ko‘rish o‘tkirligini jadvallar asosida tekshirish.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Ko‘rishning pasayishi bemor uchun og‘ir ruhiy sinov. Hamshira faqat muolaja bajarmaydi: u ruhiy dalda beradi, bemor xavfsizligini ta’minlaydi va ko‘rishni tiklashga ko‘maklashadi. Ish hamshiralik jarayonining besh bosqichi asosida tashkil etiladi.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 ko‘p uchraydigan shikoyatlar: ko‘rishning pasayishi, og‘riq, yorug‘likdan qo‘rqish, ko‘z yoshlanishi, qizarish va ajralma. To‘satdan ko‘rish yo‘qolishi, kuchli og‘riq va ko‘z oldida parda paydo bo‘lishi shoshilinch holatdir.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Ko‘zi bog‘langan bemor palatasida mebel joyi o‘zgartirilmaydi. Hamshira o‘zini tanishtiradi, har bir harakatini ovoz chiqarib aytadi va bemorni ogohlantirmasdan unga tegmaydi.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Pastki qovoq steril tampon bilan tortiladi, bemor yuqoriga qaraydi. Pipetka kipriklarga tegmasdan, pastki qovoq xaltachasiga bir-ikki tomchi dori tomiziladi. So‘ng ichki burchak bir-ikki daqiqa bosib turiladi.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Malham pastki qovoq ichiga tashqi burchakdan ichki burchakka qarab qo‘yiladi. Ko‘z esa ichki burchakdan tashqi burchakka qarab yuviladi, shunda ajralma sog‘lom ko‘zga o‘tmaydi.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Operatsiyadan oldin bemorning qo‘rquvi kamaytiriladi, antibakterial tomchilar boshlanadi. Operatsiyadan keyin bemor operatsiya qilingan tomonga yotmaydi, og‘ir yuk ko‘tarmaydi, engashmaydi. Kuchli og‘riq yoki qonash haqida darhol shifokorga xabar beriladi.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Ko‘rish o‘tkirligi Sivtsev–Golovin jadvali bilan besh metrdan tekshiriladi. Jadval o‘n ikki qatordan iborat. Bolalar uchun Orlova jadvali ishlatiladi. Har bir ko‘z alohida tekshiriladi va natija hujjatga yoziladi. Bemor birinchi qatorni ko‘rmasa, Snellen formulasi qo‘llaniladi.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Xulosa: hamshira bemor shikoyatlarini to‘g‘ri baholaydi, muolajalarni aseptika qoidalariga rioya qilib bajaradi, bemor xavfsizligini ta’minlaydi va ko‘rish o‘tkirligini aniq tekshiradi. Endi nazorat savollariga o‘ting.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94960"/>
            <a:ext cx="12191695" cy="14630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051560"/>
            <a:ext cx="1097280" cy="73152"/>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10972800" cy="457200"/>
          </a:xfrm>
          <a:prstGeom prst="rect">
            <a:avLst/>
          </a:prstGeom>
          <a:noFill/>
        </p:spPr>
        <p:txBody>
          <a:bodyPr wrap="square" anchor="t">
            <a:spAutoFit/>
          </a:bodyPr>
          <a:lstStyle/>
          <a:p>
            <a:pPr algn="l"/>
            <a:r>
              <a:rPr sz="2000" b="0">
                <a:solidFill>
                  <a:srgbClr val="D6EEF2"/>
                </a:solidFill>
                <a:latin typeface="Calibri"/>
              </a:rPr>
              <a:t>“Oftalmologiyada hamshiralik ishi” moduli  •  N-2 (Nazariy mashg‘ulot)</a:t>
            </a:r>
          </a:p>
        </p:txBody>
      </p:sp>
      <p:sp>
        <p:nvSpPr>
          <p:cNvPr id="6" name="TextBox 5"/>
          <p:cNvSpPr txBox="1"/>
          <p:nvPr/>
        </p:nvSpPr>
        <p:spPr>
          <a:xfrm>
            <a:off x="640080" y="1280160"/>
            <a:ext cx="10881360" cy="3840480"/>
          </a:xfrm>
          <a:prstGeom prst="rect">
            <a:avLst/>
          </a:prstGeom>
          <a:noFill/>
        </p:spPr>
        <p:txBody>
          <a:bodyPr wrap="square" anchor="t">
            <a:spAutoFit/>
          </a:bodyPr>
          <a:lstStyle/>
          <a:p>
            <a:pPr algn="l"/>
            <a:r>
              <a:rPr sz="4000" b="1">
                <a:solidFill>
                  <a:srgbClr val="FFFFFF"/>
                </a:solidFill>
                <a:latin typeface="Calibri"/>
              </a:rPr>
              <a:t>Oftalmologik kasalliklar bilan og‘rigan bemorlarda hamshiralik ishi</a:t>
            </a:r>
          </a:p>
        </p:txBody>
      </p:sp>
      <p:sp>
        <p:nvSpPr>
          <p:cNvPr id="7" name="TextBox 6"/>
          <p:cNvSpPr txBox="1"/>
          <p:nvPr/>
        </p:nvSpPr>
        <p:spPr>
          <a:xfrm>
            <a:off x="640080" y="5532120"/>
            <a:ext cx="10881360" cy="1188720"/>
          </a:xfrm>
          <a:prstGeom prst="rect">
            <a:avLst/>
          </a:prstGeom>
          <a:noFill/>
        </p:spPr>
        <p:txBody>
          <a:bodyPr wrap="square" anchor="t">
            <a:spAutoFit/>
          </a:bodyPr>
          <a:lstStyle/>
          <a:p>
            <a:pPr algn="l"/>
            <a:r>
              <a:rPr sz="1700" b="0">
                <a:solidFill>
                  <a:srgbClr val="FFFFFF"/>
                </a:solidFill>
                <a:latin typeface="Calibri"/>
              </a:rPr>
              <a:t>Muallif: Axmedova Roxila, “Oftalmologiya” fani o‘qituvchisi</a:t>
            </a:r>
          </a:p>
          <a:p>
            <a:pPr algn="l"/>
            <a:r>
              <a:rPr sz="1700" b="0">
                <a:solidFill>
                  <a:srgbClr val="FFFFFF"/>
                </a:solidFill>
                <a:latin typeface="Calibri"/>
              </a:rPr>
              <a:t>Shahrisabz Abu Ali ibn Sino nomidagi jamoat salomatligi texnikumi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Mashg‘ulot rejasi</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2/10</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Hamshiralik ishining xususiyatlari va simptomlar</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Muolajalar, operatsiyadan oldingi va keyingi parvarish</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Ko‘rish o‘tkirligini tekshirish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Oftalmologik bemorda hamshira vazifalari</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3/10</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Muolajalarni bajarish</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Ruhiy dalda berish</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Bemor xavfsizligini ta’minlash</a:t>
            </a:r>
          </a:p>
        </p:txBody>
      </p:sp>
      <p:sp>
        <p:nvSpPr>
          <p:cNvPr id="16" name="Rounded Rectangle 15"/>
          <p:cNvSpPr/>
          <p:nvPr/>
        </p:nvSpPr>
        <p:spPr>
          <a:xfrm>
            <a:off x="457200" y="4416552"/>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416552"/>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16552"/>
            <a:ext cx="10927080" cy="896112"/>
          </a:xfrm>
          <a:prstGeom prst="rect">
            <a:avLst/>
          </a:prstGeom>
          <a:noFill/>
        </p:spPr>
        <p:txBody>
          <a:bodyPr wrap="square" anchor="ctr">
            <a:spAutoFit/>
          </a:bodyPr>
          <a:lstStyle/>
          <a:p>
            <a:pPr algn="l"/>
            <a:r>
              <a:rPr sz="2100" b="0">
                <a:solidFill>
                  <a:srgbClr val="1B2631"/>
                </a:solidFill>
                <a:latin typeface="Calibri"/>
              </a:rPr>
              <a:t>Hamshiralik jarayoni: 5 bosqich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Asosiy simptomlar</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4/10</a:t>
            </a:r>
          </a:p>
        </p:txBody>
      </p:sp>
      <p:sp>
        <p:nvSpPr>
          <p:cNvPr id="7" name="Rounded Rectangle 6"/>
          <p:cNvSpPr/>
          <p:nvPr/>
        </p:nvSpPr>
        <p:spPr>
          <a:xfrm>
            <a:off x="457200" y="1371600"/>
            <a:ext cx="57607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5440680" cy="896112"/>
          </a:xfrm>
          <a:prstGeom prst="rect">
            <a:avLst/>
          </a:prstGeom>
          <a:noFill/>
        </p:spPr>
        <p:txBody>
          <a:bodyPr wrap="square" anchor="ctr">
            <a:spAutoFit/>
          </a:bodyPr>
          <a:lstStyle/>
          <a:p>
            <a:pPr algn="l"/>
            <a:r>
              <a:rPr sz="1800" b="0">
                <a:solidFill>
                  <a:srgbClr val="1B2631"/>
                </a:solidFill>
                <a:latin typeface="Calibri"/>
              </a:rPr>
              <a:t>Ko‘rishning pasayishi</a:t>
            </a:r>
          </a:p>
        </p:txBody>
      </p:sp>
      <p:sp>
        <p:nvSpPr>
          <p:cNvPr id="10" name="Rounded Rectangle 9"/>
          <p:cNvSpPr/>
          <p:nvPr/>
        </p:nvSpPr>
        <p:spPr>
          <a:xfrm>
            <a:off x="457200" y="2386584"/>
            <a:ext cx="57607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5440680" cy="896112"/>
          </a:xfrm>
          <a:prstGeom prst="rect">
            <a:avLst/>
          </a:prstGeom>
          <a:noFill/>
        </p:spPr>
        <p:txBody>
          <a:bodyPr wrap="square" anchor="ctr">
            <a:spAutoFit/>
          </a:bodyPr>
          <a:lstStyle/>
          <a:p>
            <a:pPr algn="l"/>
            <a:r>
              <a:rPr sz="1800" b="0">
                <a:solidFill>
                  <a:srgbClr val="1B2631"/>
                </a:solidFill>
                <a:latin typeface="Calibri"/>
              </a:rPr>
              <a:t>Og‘riq, yot jism sezgisi</a:t>
            </a:r>
          </a:p>
        </p:txBody>
      </p:sp>
      <p:sp>
        <p:nvSpPr>
          <p:cNvPr id="13" name="Rounded Rectangle 12"/>
          <p:cNvSpPr/>
          <p:nvPr/>
        </p:nvSpPr>
        <p:spPr>
          <a:xfrm>
            <a:off x="457200" y="3401568"/>
            <a:ext cx="57607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5440680" cy="896112"/>
          </a:xfrm>
          <a:prstGeom prst="rect">
            <a:avLst/>
          </a:prstGeom>
          <a:noFill/>
        </p:spPr>
        <p:txBody>
          <a:bodyPr wrap="square" anchor="ctr">
            <a:spAutoFit/>
          </a:bodyPr>
          <a:lstStyle/>
          <a:p>
            <a:pPr algn="l"/>
            <a:r>
              <a:rPr sz="1800" b="0">
                <a:solidFill>
                  <a:srgbClr val="1B2631"/>
                </a:solidFill>
                <a:latin typeface="Calibri"/>
              </a:rPr>
              <a:t>Fotofobiya, ko‘z yoshlanishi, blefarospazm</a:t>
            </a:r>
          </a:p>
        </p:txBody>
      </p:sp>
      <p:sp>
        <p:nvSpPr>
          <p:cNvPr id="16" name="Rounded Rectangle 15"/>
          <p:cNvSpPr/>
          <p:nvPr/>
        </p:nvSpPr>
        <p:spPr>
          <a:xfrm>
            <a:off x="457200" y="4416552"/>
            <a:ext cx="57607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416552"/>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16552"/>
            <a:ext cx="5440680" cy="896112"/>
          </a:xfrm>
          <a:prstGeom prst="rect">
            <a:avLst/>
          </a:prstGeom>
          <a:noFill/>
        </p:spPr>
        <p:txBody>
          <a:bodyPr wrap="square" anchor="ctr">
            <a:spAutoFit/>
          </a:bodyPr>
          <a:lstStyle/>
          <a:p>
            <a:pPr algn="l"/>
            <a:r>
              <a:rPr sz="1800" b="0">
                <a:solidFill>
                  <a:srgbClr val="1B2631"/>
                </a:solidFill>
                <a:latin typeface="Calibri"/>
              </a:rPr>
              <a:t>Qizarish va ajralma</a:t>
            </a:r>
          </a:p>
        </p:txBody>
      </p:sp>
      <p:pic>
        <p:nvPicPr>
          <p:cNvPr id="19" name="Picture 18" descr="qizargan_koz.jpg"/>
          <p:cNvPicPr>
            <a:picLocks noChangeAspect="1"/>
          </p:cNvPicPr>
          <p:nvPr/>
        </p:nvPicPr>
        <p:blipFill>
          <a:blip r:embed="rId2"/>
          <a:stretch>
            <a:fillRect/>
          </a:stretch>
        </p:blipFill>
        <p:spPr>
          <a:xfrm>
            <a:off x="6492240" y="2052448"/>
            <a:ext cx="5303520" cy="348462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Xavfsizlik va muloqot</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5/10</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Mebel joyi o‘zgartirilmaydi</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Xona va chaqiruv tugmasi tushuntiriladi</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Har bir harakat ovoz chiqarib aytiladi</a:t>
            </a:r>
          </a:p>
        </p:txBody>
      </p:sp>
      <p:sp>
        <p:nvSpPr>
          <p:cNvPr id="16" name="Rounded Rectangle 15"/>
          <p:cNvSpPr/>
          <p:nvPr/>
        </p:nvSpPr>
        <p:spPr>
          <a:xfrm>
            <a:off x="457200" y="4416552"/>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416552"/>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16552"/>
            <a:ext cx="10927080" cy="896112"/>
          </a:xfrm>
          <a:prstGeom prst="rect">
            <a:avLst/>
          </a:prstGeom>
          <a:noFill/>
        </p:spPr>
        <p:txBody>
          <a:bodyPr wrap="square" anchor="ctr">
            <a:spAutoFit/>
          </a:bodyPr>
          <a:lstStyle/>
          <a:p>
            <a:pPr algn="l"/>
            <a:r>
              <a:rPr sz="2100" b="0">
                <a:solidFill>
                  <a:srgbClr val="1B2631"/>
                </a:solidFill>
                <a:latin typeface="Calibri"/>
              </a:rPr>
              <a:t>Har bir bemorga alohida steril vositalar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Tomchi dori tomizish</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6/10</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Qo‘lni yuvish, dorini tekshirish</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Pastki qovoqni tortish, yuqoriga qarash</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Pipetka kipriklarga tegmaydi: 1–2 tomchi</a:t>
            </a:r>
          </a:p>
        </p:txBody>
      </p:sp>
      <p:sp>
        <p:nvSpPr>
          <p:cNvPr id="16" name="Rounded Rectangle 15"/>
          <p:cNvSpPr/>
          <p:nvPr/>
        </p:nvSpPr>
        <p:spPr>
          <a:xfrm>
            <a:off x="457200" y="4416552"/>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416552"/>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16552"/>
            <a:ext cx="10927080" cy="896112"/>
          </a:xfrm>
          <a:prstGeom prst="rect">
            <a:avLst/>
          </a:prstGeom>
          <a:noFill/>
        </p:spPr>
        <p:txBody>
          <a:bodyPr wrap="square" anchor="ctr">
            <a:spAutoFit/>
          </a:bodyPr>
          <a:lstStyle/>
          <a:p>
            <a:pPr algn="l"/>
            <a:r>
              <a:rPr sz="2100" b="0">
                <a:solidFill>
                  <a:srgbClr val="1B2631"/>
                </a:solidFill>
                <a:latin typeface="Calibri"/>
              </a:rPr>
              <a:t>Ichki burchakni 1–2 daqiqa bosib turish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Malham qo‘yish va ko‘zni yuvish</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7/10</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Malham: tashqi burchakdan ichki burchakka</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Yuvish: ichki burchakdan tashqi burchakka</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Har bir ko‘zga alohida tampon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Operatsiya davrida parvarish</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8/10</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Oldin: psixoprofilaktika, tomchilar, tayyorgarlik</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Keyin: operatsiya tomoniga yotmaslik</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Og‘ir yuk, engashish, yo‘tal taqiqlanadi</a:t>
            </a:r>
          </a:p>
        </p:txBody>
      </p:sp>
      <p:sp>
        <p:nvSpPr>
          <p:cNvPr id="16" name="Rounded Rectangle 15"/>
          <p:cNvSpPr/>
          <p:nvPr/>
        </p:nvSpPr>
        <p:spPr>
          <a:xfrm>
            <a:off x="457200" y="4416552"/>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416552"/>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16552"/>
            <a:ext cx="10927080" cy="896112"/>
          </a:xfrm>
          <a:prstGeom prst="rect">
            <a:avLst/>
          </a:prstGeom>
          <a:noFill/>
        </p:spPr>
        <p:txBody>
          <a:bodyPr wrap="square" anchor="ctr">
            <a:spAutoFit/>
          </a:bodyPr>
          <a:lstStyle/>
          <a:p>
            <a:pPr algn="l"/>
            <a:r>
              <a:rPr sz="2100" b="0">
                <a:solidFill>
                  <a:srgbClr val="1B2631"/>
                </a:solidFill>
                <a:latin typeface="Calibri"/>
              </a:rPr>
              <a:t>Og‘riq va qonashni kuzatish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Ko‘rish o‘tkirligini tekshirish</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9/10</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5 m masofa, Rot apparati</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Har bir ko‘z alohida, ko‘z bosilmaydi</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Har bir belgiga 2–3 soniya</a:t>
            </a:r>
          </a:p>
        </p:txBody>
      </p:sp>
      <p:sp>
        <p:nvSpPr>
          <p:cNvPr id="16" name="Rounded Rectangle 15"/>
          <p:cNvSpPr/>
          <p:nvPr/>
        </p:nvSpPr>
        <p:spPr>
          <a:xfrm>
            <a:off x="457200" y="4416552"/>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416552"/>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16552"/>
            <a:ext cx="10927080" cy="896112"/>
          </a:xfrm>
          <a:prstGeom prst="rect">
            <a:avLst/>
          </a:prstGeom>
          <a:noFill/>
        </p:spPr>
        <p:txBody>
          <a:bodyPr wrap="square" anchor="ctr">
            <a:spAutoFit/>
          </a:bodyPr>
          <a:lstStyle/>
          <a:p>
            <a:pPr algn="l"/>
            <a:r>
              <a:rPr sz="2100" b="0">
                <a:solidFill>
                  <a:srgbClr val="1B2631"/>
                </a:solidFill>
                <a:latin typeface="Calibri"/>
              </a:rPr>
              <a:t>V = d / D (D = 50 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Xulosa</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10/10</a:t>
            </a:r>
          </a:p>
        </p:txBody>
      </p:sp>
      <p:sp>
        <p:nvSpPr>
          <p:cNvPr id="7" name="Rounded Rectangle 6"/>
          <p:cNvSpPr/>
          <p:nvPr/>
        </p:nvSpPr>
        <p:spPr>
          <a:xfrm>
            <a:off x="457200" y="1371600"/>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96112"/>
          </a:xfrm>
          <a:prstGeom prst="rect">
            <a:avLst/>
          </a:prstGeom>
          <a:noFill/>
        </p:spPr>
        <p:txBody>
          <a:bodyPr wrap="square" anchor="ctr">
            <a:spAutoFit/>
          </a:bodyPr>
          <a:lstStyle/>
          <a:p>
            <a:pPr algn="l"/>
            <a:r>
              <a:rPr sz="2100" b="0">
                <a:solidFill>
                  <a:srgbClr val="1B2631"/>
                </a:solidFill>
                <a:latin typeface="Calibri"/>
              </a:rPr>
              <a:t>Shikoyatlarni to‘g‘ri baholash</a:t>
            </a:r>
          </a:p>
        </p:txBody>
      </p:sp>
      <p:sp>
        <p:nvSpPr>
          <p:cNvPr id="10" name="Rounded Rectangle 9"/>
          <p:cNvSpPr/>
          <p:nvPr/>
        </p:nvSpPr>
        <p:spPr>
          <a:xfrm>
            <a:off x="457200" y="2386584"/>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10927080" cy="896112"/>
          </a:xfrm>
          <a:prstGeom prst="rect">
            <a:avLst/>
          </a:prstGeom>
          <a:noFill/>
        </p:spPr>
        <p:txBody>
          <a:bodyPr wrap="square" anchor="ctr">
            <a:spAutoFit/>
          </a:bodyPr>
          <a:lstStyle/>
          <a:p>
            <a:pPr algn="l"/>
            <a:r>
              <a:rPr sz="2100" b="0">
                <a:solidFill>
                  <a:srgbClr val="1B2631"/>
                </a:solidFill>
                <a:latin typeface="Calibri"/>
              </a:rPr>
              <a:t>Aseptika va muolaja qoidalari</a:t>
            </a:r>
          </a:p>
        </p:txBody>
      </p:sp>
      <p:sp>
        <p:nvSpPr>
          <p:cNvPr id="13" name="Rounded Rectangle 12"/>
          <p:cNvSpPr/>
          <p:nvPr/>
        </p:nvSpPr>
        <p:spPr>
          <a:xfrm>
            <a:off x="457200" y="3401568"/>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10927080" cy="896112"/>
          </a:xfrm>
          <a:prstGeom prst="rect">
            <a:avLst/>
          </a:prstGeom>
          <a:noFill/>
        </p:spPr>
        <p:txBody>
          <a:bodyPr wrap="square" anchor="ctr">
            <a:spAutoFit/>
          </a:bodyPr>
          <a:lstStyle/>
          <a:p>
            <a:pPr algn="l"/>
            <a:r>
              <a:rPr sz="2100" b="0">
                <a:solidFill>
                  <a:srgbClr val="1B2631"/>
                </a:solidFill>
                <a:latin typeface="Calibri"/>
              </a:rPr>
              <a:t>Bemor xavfsizligi va muloqot</a:t>
            </a:r>
          </a:p>
        </p:txBody>
      </p:sp>
      <p:sp>
        <p:nvSpPr>
          <p:cNvPr id="16" name="Rounded Rectangle 15"/>
          <p:cNvSpPr/>
          <p:nvPr/>
        </p:nvSpPr>
        <p:spPr>
          <a:xfrm>
            <a:off x="457200" y="4416552"/>
            <a:ext cx="112471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416552"/>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16552"/>
            <a:ext cx="10927080" cy="896112"/>
          </a:xfrm>
          <a:prstGeom prst="rect">
            <a:avLst/>
          </a:prstGeom>
          <a:noFill/>
        </p:spPr>
        <p:txBody>
          <a:bodyPr wrap="square" anchor="ctr">
            <a:spAutoFit/>
          </a:bodyPr>
          <a:lstStyle/>
          <a:p>
            <a:pPr algn="l"/>
            <a:r>
              <a:rPr sz="2100" b="0">
                <a:solidFill>
                  <a:srgbClr val="1B2631"/>
                </a:solidFill>
                <a:latin typeface="Calibri"/>
              </a:rPr>
              <a:t>Ko‘rishni aniq tekshirish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