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Assalomu alaykum, aziz o‘quvchilar! Bugun “Oftalmologiyada hamshiralik ishi” modulining birinchi mavzusi – oftalmologiyaning rivojlanish tarixi, ko‘ruv organi anatomiyasi va ko‘zning ko‘rish faoliyati bilan tanishamiz.</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Mashg‘ulot to‘rt savoldan iborat: oftalmologiya fani va uning tibbiyotdagi o‘rni, fanning rivojlanish tarixi, ko‘ruv organining anatomiyasi va ko‘zning ko‘rish funksiyalari. Dars yakunida siz ko‘zning tuzilishini va beshta asosiy ko‘rish funksiyasini aytib bera olasiz.</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Oftalmologiya so‘zi yunoncha “oftalmos” – ko‘z va “logos” – ta’limot so‘zlaridan olingan. Bu fan ko‘ruv a’zosining tuzilishi, faoliyati va kasalliklarini o‘rganadi. Inson tashqi muhit haqidagi ma’lumotlarning sakson–to‘qson foizini ko‘zi orqali oladi. Jahon sog‘liqni saqlash tashkilotiga ko‘ra, dunyoda ikki milliard ikki yuz million kishida ko‘rish buzilishi mavjud, ularning deyarli yarmida bu holatning oldini olish mumkin edi.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Ko‘plab umumiy kasalliklar ko‘zda o‘z aksini topadi. Gipertoniyada ko‘z tubi tomirlari torayadi, qandli diabetda diabetik retinopatiya va katarakta rivojlanadi. Shuning uchun oftalmolog terapevt, nevropatolog va endokrinolog bilan hamkorlikda ishlaydi.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Hamshira bemorni qabul qiladi va tekshiruvga tayyorlaydi, ko‘rish o‘tkirligini aniqlashda ishtirok etadi, tomchi dori tomizadi, malham qo‘yadi va ko‘zni yuvadi. Shikastlarda birinchi yordam ko‘rsatadi. Ko‘z infeksiyalari oson yuqgani uchun aseptika qoidalariga qat’iy rioya qilish shart.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Ko‘z kasalliklari haqidagi dastlabki ma’lumotlar qadimgi Misrning Ebers papirusida uchraydi. Hindistonlik tabib Sushruta katarakta operatsiyasini bajargan. To‘qqizinchi asrda Hunayn ibn Ishoq “Ko‘z haqida o‘n maqola” darsligini yozgan. Yangi davrda Kepler tasvir to‘r pardada hosil bo‘lishini isbotlagan, Daviel kataraktani chiqarib olgan, Gelmgols oftalmoskopni, Snellen esa ko‘rish jadvalini yaratgan.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Buyuk vatandoshimiz Abu Ali ibn Sino “Tib qonunlari” asarining uchinchi kitobida ko‘z anatomiyasi va kasalliklarini batafsil bayon qilgan. U ko‘zning olti tashqi muskulini, ko‘ruv nervi kesishmasini tasvirlagan, traxoma, katarakta va tungi ko‘rlik haqida yozgan. Uning asarlari bir necha asr davomida Yevropa universitetlarida darslik bo‘lgan.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Yigirmanchi asrda Filatov shox pardani ko‘chirib o‘tkazish usulini, Fyodorov esa ko‘z mikroxirurgiyasi va sun’iy gavhar qo‘yishni rivojlantirdi. O‘zbekistonda traxoma ommaviy kasallik sifatida tugatildi, bugun esa kataraktani fakoemulsifikatsiya usulida olib tashlash va lazer operatsiyalari muvaffaqiyatli bajarilmoqda.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Ko‘ruv analizatori uch qismdan iborat. Periferik qism – ko‘z olmasi va to‘r parda. O‘tkazuvchi yo‘llar – ko‘ruv nervi, ko‘ruv nervlari kesishmasi – xiazma, ko‘ruv yo‘llari va tashqi tizzasimon tanalar. Markaziy qism – bosh miyaning ensa bo‘lagidagi ko‘rish markazi.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Ko‘z olmasi sharsimon, uning old-orqa o‘qi o‘rtacha yigirma to‘rt millimetr. Devori uch pardadan iborat: tashqi fibroz parda – shox parda va sklera; o‘rta tomirli parda – rangdor parda, kiprikli tana va xususiy tomirli parda; ichki – to‘r parda. Ichida esa ko‘z ichi suyuqligi, gavhar va shishasimon tana joylashgan.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Shox parda fibroz pardaning oltidan bir qismini egallaydi. U tiniq, qon tomirlari yo‘q, lekin nerv tolalariga juda boy, shuning uchun unga tushgan kichik yot jism ham kuchli og‘riq beradi. Sindirish kuchi qirq–qirq uch dioptriya. Sklera esa oq, zich parda bo‘lib, ko‘zga shakl beradi va uni himoya qiladi.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Tomirli parda uch qismdan iborat. Rangdor parda ko‘zga rang beradi, uning markazidagi qorachiq fotoapparat diafragmasi kabi ko‘zga tushadigan yorug‘likni boshqaradi. Kiprikli tana ko‘z ichi suyuqligini ishlab chiqaradi va akkomodatsiyani ta’minlaydi. Xususiy tomirli parda to‘r pardani oziqlantiradi.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To‘r parda yorug‘likni nerv impulsiga aylantiradi. Unda ikki xil fotoretseptor bor: tayoqchalar qorong‘ida ko‘rishni, kolbachalar esa kunduzgi va rangli ko‘rishni ta’minlaydi. Eng aniq ko‘rish nuqtasi – sariq dog‘. Ko‘ruv nervi diskida fotoretseptorlar yo‘q, shuning uchun u ko‘r dog‘ deb ataladi.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Ko‘zning ichki tiniq muhitlari – ko‘z ichi suyuqligi, gavhar va shishasimon tana. Ko‘z ichi bosimining normasi Maklakov bo‘yicha o‘n sakkiz–yigirma olti millimetr simob ustuni. Yordamchi apparatga ko‘z kosasi, qovoqlar, kon’yunktiva, ko‘z yoshi a’zolari va oltita harakatlantiruvchi muskul kiradi.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Ko‘zning beshta asosiy ko‘rish funksiyasi bor: markaziy ko‘rish, periferik ko‘rish, rang ko‘rish, yorug‘lik sezish va binokulyar ko‘rish. Endi ularni qanday tekshirishni ko‘rib chiqamiz.</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Ko‘rish o‘tkirligi Sivtsev–Golovin jadvali bilan besh metr masofadan tekshiriladi. Har bir ko‘z alohida tekshiriladi, ikkinchi ko‘z to‘siq bilan bosilmasdan yopiladi. Normal ko‘rish o‘tkirligi birga teng. Agar bemor birinchi qatorni ham ko‘rmasa, Snellen formulasi qo‘llaniladi: ko‘rish o‘tkirligi bemor o‘qigan masofani ellikka bo‘lganiga teng.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Ko‘ruv maydoni perimetr asbobida tekshiriladi. Oq rang uchun tashqi chegara to‘qson daraja, ichki chegara ellik besh daraja. Rang ko‘rish esa Rabkin polixromatik jadvallari bilan tekshiriladi. Qizil rangni sezmaslik protanopiya, yashilni sezmaslik deyteranopiya deb ataladi.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Ko‘z qorong‘ilikka qirq–oltmish daqiqada moslashadi. Bu jarayon buzilsa, gemeralopiya – tovuq ko‘rlik yuzaga keladi; uning ko‘p uchraydigan sababi A vitamini yetishmovchiligidir. Binokulyar ko‘rish ikki ko‘zdagi tasvirlarning yagona tasvirga qo‘shilishi bo‘lib, Sokolov sinamasi bilan tekshiriladi.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Xulosa qilib aytganda, oftalmologiya ijtimoiy ahamiyati juda yuqori fan. Ko‘z olmasi uch parda va uch tiniq muhitdan iborat, ko‘zning beshta ko‘rish funksiyasi mavjud. Hamshira ko‘z kasalliklarini erta aniqlash va profilaktikada muhim o‘rin tutadi. E’tiboringiz uchun rahmat! Endi nazorat savollari va testlarga o‘ting.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394960"/>
            <a:ext cx="12191695" cy="146304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051560"/>
            <a:ext cx="1097280" cy="73152"/>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502920"/>
            <a:ext cx="10972800" cy="457200"/>
          </a:xfrm>
          <a:prstGeom prst="rect">
            <a:avLst/>
          </a:prstGeom>
          <a:noFill/>
        </p:spPr>
        <p:txBody>
          <a:bodyPr wrap="square" anchor="t">
            <a:spAutoFit/>
          </a:bodyPr>
          <a:lstStyle/>
          <a:p>
            <a:pPr algn="l"/>
            <a:r>
              <a:rPr sz="2000" b="0">
                <a:solidFill>
                  <a:srgbClr val="D6EEF2"/>
                </a:solidFill>
                <a:latin typeface="Calibri"/>
              </a:rPr>
              <a:t>“Oftalmologiyada hamshiralik ishi” moduli  •  N-1 (Nazariy mashg‘ulot)</a:t>
            </a:r>
          </a:p>
        </p:txBody>
      </p:sp>
      <p:sp>
        <p:nvSpPr>
          <p:cNvPr id="6" name="TextBox 5"/>
          <p:cNvSpPr txBox="1"/>
          <p:nvPr/>
        </p:nvSpPr>
        <p:spPr>
          <a:xfrm>
            <a:off x="640080" y="1280160"/>
            <a:ext cx="10881360" cy="3840480"/>
          </a:xfrm>
          <a:prstGeom prst="rect">
            <a:avLst/>
          </a:prstGeom>
          <a:noFill/>
        </p:spPr>
        <p:txBody>
          <a:bodyPr wrap="square" anchor="t">
            <a:spAutoFit/>
          </a:bodyPr>
          <a:lstStyle/>
          <a:p>
            <a:pPr algn="l"/>
            <a:r>
              <a:rPr sz="3200" b="1">
                <a:solidFill>
                  <a:srgbClr val="FFFFFF"/>
                </a:solidFill>
                <a:latin typeface="Calibri"/>
              </a:rPr>
              <a:t>Oftalmologiyaning rivojlanish tarixi. Ko‘ruv organi anatomiyasi. Ko‘zning ko‘rish faoliyati</a:t>
            </a:r>
          </a:p>
        </p:txBody>
      </p:sp>
      <p:sp>
        <p:nvSpPr>
          <p:cNvPr id="7" name="TextBox 6"/>
          <p:cNvSpPr txBox="1"/>
          <p:nvPr/>
        </p:nvSpPr>
        <p:spPr>
          <a:xfrm>
            <a:off x="640080" y="5532120"/>
            <a:ext cx="10881360" cy="1188720"/>
          </a:xfrm>
          <a:prstGeom prst="rect">
            <a:avLst/>
          </a:prstGeom>
          <a:noFill/>
        </p:spPr>
        <p:txBody>
          <a:bodyPr wrap="square" anchor="t">
            <a:spAutoFit/>
          </a:bodyPr>
          <a:lstStyle/>
          <a:p>
            <a:pPr algn="l"/>
            <a:r>
              <a:rPr sz="1700" b="0">
                <a:solidFill>
                  <a:srgbClr val="FFFFFF"/>
                </a:solidFill>
                <a:latin typeface="Calibri"/>
              </a:rPr>
              <a:t>Muallif: Axmedova Roxila, “Oftalmologiya” fani o‘qituvchisi</a:t>
            </a:r>
          </a:p>
          <a:p>
            <a:pPr algn="l"/>
            <a:r>
              <a:rPr sz="1700" b="0">
                <a:solidFill>
                  <a:srgbClr val="FFFFFF"/>
                </a:solidFill>
                <a:latin typeface="Calibri"/>
              </a:rPr>
              <a:t>Shahrisabz Abu Ali ibn Sino nomidagi jamoat salomatligi texnikumi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77240"/>
          </a:xfrm>
          <a:prstGeom prst="rect">
            <a:avLst/>
          </a:prstGeom>
          <a:noFill/>
        </p:spPr>
        <p:txBody>
          <a:bodyPr wrap="square" anchor="ctr">
            <a:spAutoFit/>
          </a:bodyPr>
          <a:lstStyle/>
          <a:p>
            <a:pPr algn="l"/>
            <a:r>
              <a:rPr sz="3000" b="1">
                <a:solidFill>
                  <a:srgbClr val="FFFFFF"/>
                </a:solidFill>
                <a:latin typeface="Calibri"/>
              </a:rPr>
              <a:t>Mashg‘ulot rejasi va o‘qitish natijalari</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r>
              <a:rPr sz="1100" b="0">
                <a:solidFill>
                  <a:srgbClr val="5D6D7E"/>
                </a:solidFill>
                <a:latin typeface="Calibri"/>
              </a:rPr>
              <a:t>Oftalmologiyada hamshiralik ishi  |  Axmedova Roxila</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100" b="0">
                <a:solidFill>
                  <a:srgbClr val="5D6D7E"/>
                </a:solidFill>
                <a:latin typeface="Calibri"/>
              </a:rPr>
              <a:t>2/19</a:t>
            </a:r>
          </a:p>
        </p:txBody>
      </p:sp>
      <p:sp>
        <p:nvSpPr>
          <p:cNvPr id="7" name="Rounded Rectangle 6"/>
          <p:cNvSpPr/>
          <p:nvPr/>
        </p:nvSpPr>
        <p:spPr>
          <a:xfrm>
            <a:off x="457200" y="1371600"/>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71600"/>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371600"/>
            <a:ext cx="10927080" cy="859536"/>
          </a:xfrm>
          <a:prstGeom prst="rect">
            <a:avLst/>
          </a:prstGeom>
          <a:noFill/>
        </p:spPr>
        <p:txBody>
          <a:bodyPr wrap="square" anchor="ctr">
            <a:spAutoFit/>
          </a:bodyPr>
          <a:lstStyle/>
          <a:p>
            <a:pPr algn="l"/>
            <a:r>
              <a:rPr sz="2100" b="0">
                <a:solidFill>
                  <a:srgbClr val="1B2631"/>
                </a:solidFill>
                <a:latin typeface="Calibri"/>
              </a:rPr>
              <a:t>1. “Oftalmologiya” fani va uning tibbiyotdagi o‘rni</a:t>
            </a:r>
          </a:p>
        </p:txBody>
      </p:sp>
      <p:sp>
        <p:nvSpPr>
          <p:cNvPr id="10" name="Rounded Rectangle 9"/>
          <p:cNvSpPr/>
          <p:nvPr/>
        </p:nvSpPr>
        <p:spPr>
          <a:xfrm>
            <a:off x="457200" y="2350008"/>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350008"/>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350008"/>
            <a:ext cx="10927080" cy="859536"/>
          </a:xfrm>
          <a:prstGeom prst="rect">
            <a:avLst/>
          </a:prstGeom>
          <a:noFill/>
        </p:spPr>
        <p:txBody>
          <a:bodyPr wrap="square" anchor="ctr">
            <a:spAutoFit/>
          </a:bodyPr>
          <a:lstStyle/>
          <a:p>
            <a:pPr algn="l"/>
            <a:r>
              <a:rPr sz="2100" b="0">
                <a:solidFill>
                  <a:srgbClr val="1B2631"/>
                </a:solidFill>
                <a:latin typeface="Calibri"/>
              </a:rPr>
              <a:t>2. Oftalmologiyaning rivojlanish tarixi</a:t>
            </a:r>
          </a:p>
        </p:txBody>
      </p:sp>
      <p:sp>
        <p:nvSpPr>
          <p:cNvPr id="13" name="Rounded Rectangle 12"/>
          <p:cNvSpPr/>
          <p:nvPr/>
        </p:nvSpPr>
        <p:spPr>
          <a:xfrm>
            <a:off x="457200" y="3328416"/>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328416"/>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328416"/>
            <a:ext cx="10927080" cy="859536"/>
          </a:xfrm>
          <a:prstGeom prst="rect">
            <a:avLst/>
          </a:prstGeom>
          <a:noFill/>
        </p:spPr>
        <p:txBody>
          <a:bodyPr wrap="square" anchor="ctr">
            <a:spAutoFit/>
          </a:bodyPr>
          <a:lstStyle/>
          <a:p>
            <a:pPr algn="l"/>
            <a:r>
              <a:rPr sz="2100" b="0">
                <a:solidFill>
                  <a:srgbClr val="1B2631"/>
                </a:solidFill>
                <a:latin typeface="Calibri"/>
              </a:rPr>
              <a:t>3. Ko‘ruv organi anatomiyasi</a:t>
            </a:r>
          </a:p>
        </p:txBody>
      </p:sp>
      <p:sp>
        <p:nvSpPr>
          <p:cNvPr id="16" name="Rounded Rectangle 15"/>
          <p:cNvSpPr/>
          <p:nvPr/>
        </p:nvSpPr>
        <p:spPr>
          <a:xfrm>
            <a:off x="457200" y="4306824"/>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306824"/>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306824"/>
            <a:ext cx="10927080" cy="859536"/>
          </a:xfrm>
          <a:prstGeom prst="rect">
            <a:avLst/>
          </a:prstGeom>
          <a:noFill/>
        </p:spPr>
        <p:txBody>
          <a:bodyPr wrap="square" anchor="ctr">
            <a:spAutoFit/>
          </a:bodyPr>
          <a:lstStyle/>
          <a:p>
            <a:pPr algn="l"/>
            <a:r>
              <a:rPr sz="2100" b="0">
                <a:solidFill>
                  <a:srgbClr val="1B2631"/>
                </a:solidFill>
                <a:latin typeface="Calibri"/>
              </a:rPr>
              <a:t>4. Ko‘ruv organining faoliyati</a:t>
            </a:r>
          </a:p>
        </p:txBody>
      </p:sp>
      <p:sp>
        <p:nvSpPr>
          <p:cNvPr id="19" name="Rounded Rectangle 18"/>
          <p:cNvSpPr/>
          <p:nvPr/>
        </p:nvSpPr>
        <p:spPr>
          <a:xfrm>
            <a:off x="457200" y="5285232"/>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5285232"/>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285232"/>
            <a:ext cx="10927080" cy="859536"/>
          </a:xfrm>
          <a:prstGeom prst="rect">
            <a:avLst/>
          </a:prstGeom>
          <a:noFill/>
        </p:spPr>
        <p:txBody>
          <a:bodyPr wrap="square" anchor="ctr">
            <a:spAutoFit/>
          </a:bodyPr>
          <a:lstStyle/>
          <a:p>
            <a:pPr algn="l"/>
            <a:r>
              <a:rPr sz="1900" b="0">
                <a:solidFill>
                  <a:srgbClr val="1B2631"/>
                </a:solidFill>
                <a:latin typeface="Calibri"/>
              </a:rPr>
              <a:t>Natija: fan, tarix, ko‘z tuzilishi va 5 ta ko‘rish funksiyasini aytib bera olasiz</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77240"/>
          </a:xfrm>
          <a:prstGeom prst="rect">
            <a:avLst/>
          </a:prstGeom>
          <a:noFill/>
        </p:spPr>
        <p:txBody>
          <a:bodyPr wrap="square" anchor="ctr">
            <a:spAutoFit/>
          </a:bodyPr>
          <a:lstStyle/>
          <a:p>
            <a:pPr algn="l"/>
            <a:r>
              <a:rPr sz="3000" b="1">
                <a:solidFill>
                  <a:srgbClr val="FFFFFF"/>
                </a:solidFill>
                <a:latin typeface="Calibri"/>
              </a:rPr>
              <a:t>Oftalmologiya nima?</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r>
              <a:rPr sz="1100" b="0">
                <a:solidFill>
                  <a:srgbClr val="5D6D7E"/>
                </a:solidFill>
                <a:latin typeface="Calibri"/>
              </a:rPr>
              <a:t>Oftalmologiyada hamshiralik ishi  |  Axmedova Roxila</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100" b="0">
                <a:solidFill>
                  <a:srgbClr val="5D6D7E"/>
                </a:solidFill>
                <a:latin typeface="Calibri"/>
              </a:rPr>
              <a:t>3/19</a:t>
            </a:r>
          </a:p>
        </p:txBody>
      </p:sp>
      <p:sp>
        <p:nvSpPr>
          <p:cNvPr id="7" name="Rounded Rectangle 6"/>
          <p:cNvSpPr/>
          <p:nvPr/>
        </p:nvSpPr>
        <p:spPr>
          <a:xfrm>
            <a:off x="457200" y="1371600"/>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71600"/>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371600"/>
            <a:ext cx="10927080" cy="859536"/>
          </a:xfrm>
          <a:prstGeom prst="rect">
            <a:avLst/>
          </a:prstGeom>
          <a:noFill/>
        </p:spPr>
        <p:txBody>
          <a:bodyPr wrap="square" anchor="ctr">
            <a:spAutoFit/>
          </a:bodyPr>
          <a:lstStyle/>
          <a:p>
            <a:pPr algn="l"/>
            <a:r>
              <a:rPr sz="2100" b="0">
                <a:solidFill>
                  <a:srgbClr val="1B2631"/>
                </a:solidFill>
                <a:latin typeface="Calibri"/>
              </a:rPr>
              <a:t>Yunoncha: ophthalmos – ko‘z, logos – ta’limot</a:t>
            </a:r>
          </a:p>
        </p:txBody>
      </p:sp>
      <p:sp>
        <p:nvSpPr>
          <p:cNvPr id="10" name="Rounded Rectangle 9"/>
          <p:cNvSpPr/>
          <p:nvPr/>
        </p:nvSpPr>
        <p:spPr>
          <a:xfrm>
            <a:off x="457200" y="2350008"/>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350008"/>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350008"/>
            <a:ext cx="10927080" cy="859536"/>
          </a:xfrm>
          <a:prstGeom prst="rect">
            <a:avLst/>
          </a:prstGeom>
          <a:noFill/>
        </p:spPr>
        <p:txBody>
          <a:bodyPr wrap="square" anchor="ctr">
            <a:spAutoFit/>
          </a:bodyPr>
          <a:lstStyle/>
          <a:p>
            <a:pPr algn="l"/>
            <a:r>
              <a:rPr sz="2100" b="0">
                <a:solidFill>
                  <a:srgbClr val="1B2631"/>
                </a:solidFill>
                <a:latin typeface="Calibri"/>
              </a:rPr>
              <a:t>Ko‘ruv a’zosining tuzilishi, faoliyati va kasalliklarini o‘rganadi</a:t>
            </a:r>
          </a:p>
        </p:txBody>
      </p:sp>
      <p:sp>
        <p:nvSpPr>
          <p:cNvPr id="13" name="Rounded Rectangle 12"/>
          <p:cNvSpPr/>
          <p:nvPr/>
        </p:nvSpPr>
        <p:spPr>
          <a:xfrm>
            <a:off x="457200" y="3328416"/>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328416"/>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328416"/>
            <a:ext cx="10927080" cy="859536"/>
          </a:xfrm>
          <a:prstGeom prst="rect">
            <a:avLst/>
          </a:prstGeom>
          <a:noFill/>
        </p:spPr>
        <p:txBody>
          <a:bodyPr wrap="square" anchor="ctr">
            <a:spAutoFit/>
          </a:bodyPr>
          <a:lstStyle/>
          <a:p>
            <a:pPr algn="l"/>
            <a:r>
              <a:rPr sz="2100" b="0">
                <a:solidFill>
                  <a:srgbClr val="1B2631"/>
                </a:solidFill>
                <a:latin typeface="Calibri"/>
              </a:rPr>
              <a:t>Ma’lumotlarning 80–90 % ko‘rish orqali olinadi</a:t>
            </a:r>
          </a:p>
        </p:txBody>
      </p:sp>
      <p:sp>
        <p:nvSpPr>
          <p:cNvPr id="16" name="Rounded Rectangle 15"/>
          <p:cNvSpPr/>
          <p:nvPr/>
        </p:nvSpPr>
        <p:spPr>
          <a:xfrm>
            <a:off x="457200" y="4306824"/>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306824"/>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306824"/>
            <a:ext cx="10927080" cy="859536"/>
          </a:xfrm>
          <a:prstGeom prst="rect">
            <a:avLst/>
          </a:prstGeom>
          <a:noFill/>
        </p:spPr>
        <p:txBody>
          <a:bodyPr wrap="square" anchor="ctr">
            <a:spAutoFit/>
          </a:bodyPr>
          <a:lstStyle/>
          <a:p>
            <a:pPr algn="l"/>
            <a:r>
              <a:rPr sz="2100" b="0">
                <a:solidFill>
                  <a:srgbClr val="1B2631"/>
                </a:solidFill>
                <a:latin typeface="Calibri"/>
              </a:rPr>
              <a:t>Dunyoda 2,2 mlrd kishida ko‘rish buzilishi bor (JSST)</a:t>
            </a:r>
          </a:p>
        </p:txBody>
      </p:sp>
      <p:sp>
        <p:nvSpPr>
          <p:cNvPr id="19" name="Rounded Rectangle 18"/>
          <p:cNvSpPr/>
          <p:nvPr/>
        </p:nvSpPr>
        <p:spPr>
          <a:xfrm>
            <a:off x="457200" y="5285232"/>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5285232"/>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285232"/>
            <a:ext cx="10927080" cy="859536"/>
          </a:xfrm>
          <a:prstGeom prst="rect">
            <a:avLst/>
          </a:prstGeom>
          <a:noFill/>
        </p:spPr>
        <p:txBody>
          <a:bodyPr wrap="square" anchor="ctr">
            <a:spAutoFit/>
          </a:bodyPr>
          <a:lstStyle/>
          <a:p>
            <a:pPr algn="l"/>
            <a:r>
              <a:rPr sz="2100" b="0">
                <a:solidFill>
                  <a:srgbClr val="1B2631"/>
                </a:solidFill>
                <a:latin typeface="Calibri"/>
              </a:rPr>
              <a:t>Asosiy sabablar: refraksiya anomaliyalari, katarakta, glaukoma, diabet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77240"/>
          </a:xfrm>
          <a:prstGeom prst="rect">
            <a:avLst/>
          </a:prstGeom>
          <a:noFill/>
        </p:spPr>
        <p:txBody>
          <a:bodyPr wrap="square" anchor="ctr">
            <a:spAutoFit/>
          </a:bodyPr>
          <a:lstStyle/>
          <a:p>
            <a:pPr algn="l"/>
            <a:r>
              <a:rPr sz="3000" b="1">
                <a:solidFill>
                  <a:srgbClr val="FFFFFF"/>
                </a:solidFill>
                <a:latin typeface="Calibri"/>
              </a:rPr>
              <a:t>Oftalmologiyaning boshqa fanlar bilan bog‘liqligi</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r>
              <a:rPr sz="1100" b="0">
                <a:solidFill>
                  <a:srgbClr val="5D6D7E"/>
                </a:solidFill>
                <a:latin typeface="Calibri"/>
              </a:rPr>
              <a:t>Oftalmologiyada hamshiralik ishi  |  Axmedova Roxila</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100" b="0">
                <a:solidFill>
                  <a:srgbClr val="5D6D7E"/>
                </a:solidFill>
                <a:latin typeface="Calibri"/>
              </a:rPr>
              <a:t>4/19</a:t>
            </a:r>
          </a:p>
        </p:txBody>
      </p:sp>
      <p:sp>
        <p:nvSpPr>
          <p:cNvPr id="7" name="Rounded Rectangle 6"/>
          <p:cNvSpPr/>
          <p:nvPr/>
        </p:nvSpPr>
        <p:spPr>
          <a:xfrm>
            <a:off x="457200" y="1371600"/>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71600"/>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371600"/>
            <a:ext cx="10927080" cy="859536"/>
          </a:xfrm>
          <a:prstGeom prst="rect">
            <a:avLst/>
          </a:prstGeom>
          <a:noFill/>
        </p:spPr>
        <p:txBody>
          <a:bodyPr wrap="square" anchor="ctr">
            <a:spAutoFit/>
          </a:bodyPr>
          <a:lstStyle/>
          <a:p>
            <a:pPr algn="l"/>
            <a:r>
              <a:rPr sz="2100" b="0">
                <a:solidFill>
                  <a:srgbClr val="1B2631"/>
                </a:solidFill>
                <a:latin typeface="Calibri"/>
              </a:rPr>
              <a:t>Gipertoniya – ko‘z tubi tomirlari torayadi</a:t>
            </a:r>
          </a:p>
        </p:txBody>
      </p:sp>
      <p:sp>
        <p:nvSpPr>
          <p:cNvPr id="10" name="Rounded Rectangle 9"/>
          <p:cNvSpPr/>
          <p:nvPr/>
        </p:nvSpPr>
        <p:spPr>
          <a:xfrm>
            <a:off x="457200" y="2350008"/>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350008"/>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350008"/>
            <a:ext cx="10927080" cy="859536"/>
          </a:xfrm>
          <a:prstGeom prst="rect">
            <a:avLst/>
          </a:prstGeom>
          <a:noFill/>
        </p:spPr>
        <p:txBody>
          <a:bodyPr wrap="square" anchor="ctr">
            <a:spAutoFit/>
          </a:bodyPr>
          <a:lstStyle/>
          <a:p>
            <a:pPr algn="l"/>
            <a:r>
              <a:rPr sz="2100" b="0">
                <a:solidFill>
                  <a:srgbClr val="1B2631"/>
                </a:solidFill>
                <a:latin typeface="Calibri"/>
              </a:rPr>
              <a:t>Qandli diabet – diabetik retinopatiya, katarakta</a:t>
            </a:r>
          </a:p>
        </p:txBody>
      </p:sp>
      <p:sp>
        <p:nvSpPr>
          <p:cNvPr id="13" name="Rounded Rectangle 12"/>
          <p:cNvSpPr/>
          <p:nvPr/>
        </p:nvSpPr>
        <p:spPr>
          <a:xfrm>
            <a:off x="457200" y="3328416"/>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328416"/>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328416"/>
            <a:ext cx="10927080" cy="859536"/>
          </a:xfrm>
          <a:prstGeom prst="rect">
            <a:avLst/>
          </a:prstGeom>
          <a:noFill/>
        </p:spPr>
        <p:txBody>
          <a:bodyPr wrap="square" anchor="ctr">
            <a:spAutoFit/>
          </a:bodyPr>
          <a:lstStyle/>
          <a:p>
            <a:pPr algn="l"/>
            <a:r>
              <a:rPr sz="2100" b="0">
                <a:solidFill>
                  <a:srgbClr val="1B2631"/>
                </a:solidFill>
                <a:latin typeface="Calibri"/>
              </a:rPr>
              <a:t>Bosh miya o‘smalari – ko‘ruv nervi diskida dimlanish</a:t>
            </a:r>
          </a:p>
        </p:txBody>
      </p:sp>
      <p:sp>
        <p:nvSpPr>
          <p:cNvPr id="16" name="Rounded Rectangle 15"/>
          <p:cNvSpPr/>
          <p:nvPr/>
        </p:nvSpPr>
        <p:spPr>
          <a:xfrm>
            <a:off x="457200" y="4306824"/>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306824"/>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306824"/>
            <a:ext cx="10927080" cy="859536"/>
          </a:xfrm>
          <a:prstGeom prst="rect">
            <a:avLst/>
          </a:prstGeom>
          <a:noFill/>
        </p:spPr>
        <p:txBody>
          <a:bodyPr wrap="square" anchor="ctr">
            <a:spAutoFit/>
          </a:bodyPr>
          <a:lstStyle/>
          <a:p>
            <a:pPr algn="l"/>
            <a:r>
              <a:rPr sz="2100" b="0">
                <a:solidFill>
                  <a:srgbClr val="1B2631"/>
                </a:solidFill>
                <a:latin typeface="Calibri"/>
              </a:rPr>
              <a:t>Anatomiya, fiziologiya, optika, farmakologiya</a:t>
            </a:r>
          </a:p>
        </p:txBody>
      </p:sp>
      <p:sp>
        <p:nvSpPr>
          <p:cNvPr id="19" name="Rounded Rectangle 18"/>
          <p:cNvSpPr/>
          <p:nvPr/>
        </p:nvSpPr>
        <p:spPr>
          <a:xfrm>
            <a:off x="457200" y="5285232"/>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5285232"/>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285232"/>
            <a:ext cx="10927080" cy="859536"/>
          </a:xfrm>
          <a:prstGeom prst="rect">
            <a:avLst/>
          </a:prstGeom>
          <a:noFill/>
        </p:spPr>
        <p:txBody>
          <a:bodyPr wrap="square" anchor="ctr">
            <a:spAutoFit/>
          </a:bodyPr>
          <a:lstStyle/>
          <a:p>
            <a:pPr algn="l"/>
            <a:r>
              <a:rPr sz="2100" b="0">
                <a:solidFill>
                  <a:srgbClr val="1B2631"/>
                </a:solidFill>
                <a:latin typeface="Calibri"/>
              </a:rPr>
              <a:t>Terapevt, nevropatolog, endokrinolog bilan hamkorlik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77240"/>
          </a:xfrm>
          <a:prstGeom prst="rect">
            <a:avLst/>
          </a:prstGeom>
          <a:noFill/>
        </p:spPr>
        <p:txBody>
          <a:bodyPr wrap="square" anchor="ctr">
            <a:spAutoFit/>
          </a:bodyPr>
          <a:lstStyle/>
          <a:p>
            <a:pPr algn="l"/>
            <a:r>
              <a:rPr sz="3000" b="1">
                <a:solidFill>
                  <a:srgbClr val="FFFFFF"/>
                </a:solidFill>
                <a:latin typeface="Calibri"/>
              </a:rPr>
              <a:t>Oftalmologiyada hamshiraning vazifalari</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r>
              <a:rPr sz="1100" b="0">
                <a:solidFill>
                  <a:srgbClr val="5D6D7E"/>
                </a:solidFill>
                <a:latin typeface="Calibri"/>
              </a:rPr>
              <a:t>Oftalmologiyada hamshiralik ishi  |  Axmedova Roxila</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100" b="0">
                <a:solidFill>
                  <a:srgbClr val="5D6D7E"/>
                </a:solidFill>
                <a:latin typeface="Calibri"/>
              </a:rPr>
              <a:t>5/19</a:t>
            </a:r>
          </a:p>
        </p:txBody>
      </p:sp>
      <p:sp>
        <p:nvSpPr>
          <p:cNvPr id="7" name="Rounded Rectangle 6"/>
          <p:cNvSpPr/>
          <p:nvPr/>
        </p:nvSpPr>
        <p:spPr>
          <a:xfrm>
            <a:off x="457200" y="1371600"/>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71600"/>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371600"/>
            <a:ext cx="10927080" cy="859536"/>
          </a:xfrm>
          <a:prstGeom prst="rect">
            <a:avLst/>
          </a:prstGeom>
          <a:noFill/>
        </p:spPr>
        <p:txBody>
          <a:bodyPr wrap="square" anchor="ctr">
            <a:spAutoFit/>
          </a:bodyPr>
          <a:lstStyle/>
          <a:p>
            <a:pPr algn="l"/>
            <a:r>
              <a:rPr sz="2100" b="0">
                <a:solidFill>
                  <a:srgbClr val="1B2631"/>
                </a:solidFill>
                <a:latin typeface="Calibri"/>
              </a:rPr>
              <a:t>Bemorni qabul qilish va tekshiruvga tayyorlash</a:t>
            </a:r>
          </a:p>
        </p:txBody>
      </p:sp>
      <p:sp>
        <p:nvSpPr>
          <p:cNvPr id="10" name="Rounded Rectangle 9"/>
          <p:cNvSpPr/>
          <p:nvPr/>
        </p:nvSpPr>
        <p:spPr>
          <a:xfrm>
            <a:off x="457200" y="2350008"/>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350008"/>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350008"/>
            <a:ext cx="10927080" cy="859536"/>
          </a:xfrm>
          <a:prstGeom prst="rect">
            <a:avLst/>
          </a:prstGeom>
          <a:noFill/>
        </p:spPr>
        <p:txBody>
          <a:bodyPr wrap="square" anchor="ctr">
            <a:spAutoFit/>
          </a:bodyPr>
          <a:lstStyle/>
          <a:p>
            <a:pPr algn="l"/>
            <a:r>
              <a:rPr sz="2100" b="0">
                <a:solidFill>
                  <a:srgbClr val="1B2631"/>
                </a:solidFill>
                <a:latin typeface="Calibri"/>
              </a:rPr>
              <a:t>Ko‘rish o‘tkirligi, rang ko‘rish, ko‘z ichi bosimini aniqlashda ishtirok</a:t>
            </a:r>
          </a:p>
        </p:txBody>
      </p:sp>
      <p:sp>
        <p:nvSpPr>
          <p:cNvPr id="13" name="Rounded Rectangle 12"/>
          <p:cNvSpPr/>
          <p:nvPr/>
        </p:nvSpPr>
        <p:spPr>
          <a:xfrm>
            <a:off x="457200" y="3328416"/>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328416"/>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328416"/>
            <a:ext cx="10927080" cy="859536"/>
          </a:xfrm>
          <a:prstGeom prst="rect">
            <a:avLst/>
          </a:prstGeom>
          <a:noFill/>
        </p:spPr>
        <p:txBody>
          <a:bodyPr wrap="square" anchor="ctr">
            <a:spAutoFit/>
          </a:bodyPr>
          <a:lstStyle/>
          <a:p>
            <a:pPr algn="l"/>
            <a:r>
              <a:rPr sz="2100" b="0">
                <a:solidFill>
                  <a:srgbClr val="1B2631"/>
                </a:solidFill>
                <a:latin typeface="Calibri"/>
              </a:rPr>
              <a:t>Tomchi dori tomizish, malham qo‘yish, ko‘zni yuvish</a:t>
            </a:r>
          </a:p>
        </p:txBody>
      </p:sp>
      <p:sp>
        <p:nvSpPr>
          <p:cNvPr id="16" name="Rounded Rectangle 15"/>
          <p:cNvSpPr/>
          <p:nvPr/>
        </p:nvSpPr>
        <p:spPr>
          <a:xfrm>
            <a:off x="457200" y="4306824"/>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306824"/>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306824"/>
            <a:ext cx="10927080" cy="859536"/>
          </a:xfrm>
          <a:prstGeom prst="rect">
            <a:avLst/>
          </a:prstGeom>
          <a:noFill/>
        </p:spPr>
        <p:txBody>
          <a:bodyPr wrap="square" anchor="ctr">
            <a:spAutoFit/>
          </a:bodyPr>
          <a:lstStyle/>
          <a:p>
            <a:pPr algn="l"/>
            <a:r>
              <a:rPr sz="2100" b="0">
                <a:solidFill>
                  <a:srgbClr val="1B2631"/>
                </a:solidFill>
                <a:latin typeface="Calibri"/>
              </a:rPr>
              <a:t>Jarohat, kuyish, yot jismda birinchi yordam</a:t>
            </a:r>
          </a:p>
        </p:txBody>
      </p:sp>
      <p:sp>
        <p:nvSpPr>
          <p:cNvPr id="19" name="Rounded Rectangle 18"/>
          <p:cNvSpPr/>
          <p:nvPr/>
        </p:nvSpPr>
        <p:spPr>
          <a:xfrm>
            <a:off x="457200" y="5285232"/>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5285232"/>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285232"/>
            <a:ext cx="10927080" cy="859536"/>
          </a:xfrm>
          <a:prstGeom prst="rect">
            <a:avLst/>
          </a:prstGeom>
          <a:noFill/>
        </p:spPr>
        <p:txBody>
          <a:bodyPr wrap="square" anchor="ctr">
            <a:spAutoFit/>
          </a:bodyPr>
          <a:lstStyle/>
          <a:p>
            <a:pPr algn="l"/>
            <a:r>
              <a:rPr sz="2100" b="0">
                <a:solidFill>
                  <a:srgbClr val="1B2631"/>
                </a:solidFill>
                <a:latin typeface="Calibri"/>
              </a:rPr>
              <a:t>Aseptika va antiseptika, sanitariya-oqartuv ishlari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77240"/>
          </a:xfrm>
          <a:prstGeom prst="rect">
            <a:avLst/>
          </a:prstGeom>
          <a:noFill/>
        </p:spPr>
        <p:txBody>
          <a:bodyPr wrap="square" anchor="ctr">
            <a:spAutoFit/>
          </a:bodyPr>
          <a:lstStyle/>
          <a:p>
            <a:pPr algn="l"/>
            <a:r>
              <a:rPr sz="3000" b="1">
                <a:solidFill>
                  <a:srgbClr val="FFFFFF"/>
                </a:solidFill>
                <a:latin typeface="Calibri"/>
              </a:rPr>
              <a:t>Oftalmologiya tarixi: asosiy bosqichlar</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r>
              <a:rPr sz="1100" b="0">
                <a:solidFill>
                  <a:srgbClr val="5D6D7E"/>
                </a:solidFill>
                <a:latin typeface="Calibri"/>
              </a:rPr>
              <a:t>Oftalmologiyada hamshiralik ishi  |  Axmedova Roxila</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100" b="0">
                <a:solidFill>
                  <a:srgbClr val="5D6D7E"/>
                </a:solidFill>
                <a:latin typeface="Calibri"/>
              </a:rPr>
              <a:t>6/19</a:t>
            </a:r>
          </a:p>
        </p:txBody>
      </p:sp>
      <p:pic>
        <p:nvPicPr>
          <p:cNvPr id="7" name="Picture 6" descr="07_tarix_vaqt_chizigi.png"/>
          <p:cNvPicPr>
            <a:picLocks noChangeAspect="1"/>
          </p:cNvPicPr>
          <p:nvPr/>
        </p:nvPicPr>
        <p:blipFill>
          <a:blip r:embed="rId2"/>
          <a:stretch>
            <a:fillRect/>
          </a:stretch>
        </p:blipFill>
        <p:spPr>
          <a:xfrm>
            <a:off x="457200" y="1683149"/>
            <a:ext cx="11247120" cy="4177501"/>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77240"/>
          </a:xfrm>
          <a:prstGeom prst="rect">
            <a:avLst/>
          </a:prstGeom>
          <a:noFill/>
        </p:spPr>
        <p:txBody>
          <a:bodyPr wrap="square" anchor="ctr">
            <a:spAutoFit/>
          </a:bodyPr>
          <a:lstStyle/>
          <a:p>
            <a:pPr algn="l"/>
            <a:r>
              <a:rPr sz="3000" b="1">
                <a:solidFill>
                  <a:srgbClr val="FFFFFF"/>
                </a:solidFill>
                <a:latin typeface="Calibri"/>
              </a:rPr>
              <a:t>Abu Ali ibn Sino va Sharq tabobati</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r>
              <a:rPr sz="1100" b="0">
                <a:solidFill>
                  <a:srgbClr val="5D6D7E"/>
                </a:solidFill>
                <a:latin typeface="Calibri"/>
              </a:rPr>
              <a:t>Oftalmologiyada hamshiralik ishi  |  Axmedova Roxila</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100" b="0">
                <a:solidFill>
                  <a:srgbClr val="5D6D7E"/>
                </a:solidFill>
                <a:latin typeface="Calibri"/>
              </a:rPr>
              <a:t>7/19</a:t>
            </a:r>
          </a:p>
        </p:txBody>
      </p:sp>
      <p:sp>
        <p:nvSpPr>
          <p:cNvPr id="7" name="Rounded Rectangle 6"/>
          <p:cNvSpPr/>
          <p:nvPr/>
        </p:nvSpPr>
        <p:spPr>
          <a:xfrm>
            <a:off x="457200" y="1371600"/>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71600"/>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371600"/>
            <a:ext cx="10927080" cy="859536"/>
          </a:xfrm>
          <a:prstGeom prst="rect">
            <a:avLst/>
          </a:prstGeom>
          <a:noFill/>
        </p:spPr>
        <p:txBody>
          <a:bodyPr wrap="square" anchor="ctr">
            <a:spAutoFit/>
          </a:bodyPr>
          <a:lstStyle/>
          <a:p>
            <a:pPr algn="l"/>
            <a:r>
              <a:rPr sz="2100" b="0">
                <a:solidFill>
                  <a:srgbClr val="1B2631"/>
                </a:solidFill>
                <a:latin typeface="Calibri"/>
              </a:rPr>
              <a:t>“Tib qonunlari”ning 3-kitobida ko‘z anatomiyasi va kasalliklari</a:t>
            </a:r>
          </a:p>
        </p:txBody>
      </p:sp>
      <p:sp>
        <p:nvSpPr>
          <p:cNvPr id="10" name="Rounded Rectangle 9"/>
          <p:cNvSpPr/>
          <p:nvPr/>
        </p:nvSpPr>
        <p:spPr>
          <a:xfrm>
            <a:off x="457200" y="2350008"/>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350008"/>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350008"/>
            <a:ext cx="10927080" cy="859536"/>
          </a:xfrm>
          <a:prstGeom prst="rect">
            <a:avLst/>
          </a:prstGeom>
          <a:noFill/>
        </p:spPr>
        <p:txBody>
          <a:bodyPr wrap="square" anchor="ctr">
            <a:spAutoFit/>
          </a:bodyPr>
          <a:lstStyle/>
          <a:p>
            <a:pPr algn="l"/>
            <a:r>
              <a:rPr sz="2100" b="0">
                <a:solidFill>
                  <a:srgbClr val="1B2631"/>
                </a:solidFill>
                <a:latin typeface="Calibri"/>
              </a:rPr>
              <a:t>Ko‘zning 6 tashqi muskuli va ko‘ruv nervi kesishmasini tasvirlagan</a:t>
            </a:r>
          </a:p>
        </p:txBody>
      </p:sp>
      <p:sp>
        <p:nvSpPr>
          <p:cNvPr id="13" name="Rounded Rectangle 12"/>
          <p:cNvSpPr/>
          <p:nvPr/>
        </p:nvSpPr>
        <p:spPr>
          <a:xfrm>
            <a:off x="457200" y="3328416"/>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328416"/>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328416"/>
            <a:ext cx="10927080" cy="859536"/>
          </a:xfrm>
          <a:prstGeom prst="rect">
            <a:avLst/>
          </a:prstGeom>
          <a:noFill/>
        </p:spPr>
        <p:txBody>
          <a:bodyPr wrap="square" anchor="ctr">
            <a:spAutoFit/>
          </a:bodyPr>
          <a:lstStyle/>
          <a:p>
            <a:pPr algn="l"/>
            <a:r>
              <a:rPr sz="2100" b="0">
                <a:solidFill>
                  <a:srgbClr val="1B2631"/>
                </a:solidFill>
                <a:latin typeface="Calibri"/>
              </a:rPr>
              <a:t>Traxoma, katarakta, “tungi ko‘rlik” haqida yozgan</a:t>
            </a:r>
          </a:p>
        </p:txBody>
      </p:sp>
      <p:sp>
        <p:nvSpPr>
          <p:cNvPr id="16" name="Rounded Rectangle 15"/>
          <p:cNvSpPr/>
          <p:nvPr/>
        </p:nvSpPr>
        <p:spPr>
          <a:xfrm>
            <a:off x="457200" y="4306824"/>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306824"/>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306824"/>
            <a:ext cx="10927080" cy="859536"/>
          </a:xfrm>
          <a:prstGeom prst="rect">
            <a:avLst/>
          </a:prstGeom>
          <a:noFill/>
        </p:spPr>
        <p:txBody>
          <a:bodyPr wrap="square" anchor="ctr">
            <a:spAutoFit/>
          </a:bodyPr>
          <a:lstStyle/>
          <a:p>
            <a:pPr algn="l"/>
            <a:r>
              <a:rPr sz="2100" b="0">
                <a:solidFill>
                  <a:srgbClr val="1B2631"/>
                </a:solidFill>
                <a:latin typeface="Calibri"/>
              </a:rPr>
              <a:t>Asarlari asrlar davomida Yevropada darslik bo‘lgan</a:t>
            </a:r>
          </a:p>
        </p:txBody>
      </p:sp>
      <p:sp>
        <p:nvSpPr>
          <p:cNvPr id="19" name="Rounded Rectangle 18"/>
          <p:cNvSpPr/>
          <p:nvPr/>
        </p:nvSpPr>
        <p:spPr>
          <a:xfrm>
            <a:off x="457200" y="5285232"/>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5285232"/>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285232"/>
            <a:ext cx="10927080" cy="859536"/>
          </a:xfrm>
          <a:prstGeom prst="rect">
            <a:avLst/>
          </a:prstGeom>
          <a:noFill/>
        </p:spPr>
        <p:txBody>
          <a:bodyPr wrap="square" anchor="ctr">
            <a:spAutoFit/>
          </a:bodyPr>
          <a:lstStyle/>
          <a:p>
            <a:pPr algn="l"/>
            <a:r>
              <a:rPr sz="2100" b="0">
                <a:solidFill>
                  <a:srgbClr val="1B2631"/>
                </a:solidFill>
                <a:latin typeface="Calibri"/>
              </a:rPr>
              <a:t>Ali ibn Iso al-Kahhol – 130 ga yaqin ko‘z kasalligi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77240"/>
          </a:xfrm>
          <a:prstGeom prst="rect">
            <a:avLst/>
          </a:prstGeom>
          <a:noFill/>
        </p:spPr>
        <p:txBody>
          <a:bodyPr wrap="square" anchor="ctr">
            <a:spAutoFit/>
          </a:bodyPr>
          <a:lstStyle/>
          <a:p>
            <a:pPr algn="l"/>
            <a:r>
              <a:rPr sz="3000" b="1">
                <a:solidFill>
                  <a:srgbClr val="FFFFFF"/>
                </a:solidFill>
                <a:latin typeface="Calibri"/>
              </a:rPr>
              <a:t>XX asr va hozirgi zamon</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r>
              <a:rPr sz="1100" b="0">
                <a:solidFill>
                  <a:srgbClr val="5D6D7E"/>
                </a:solidFill>
                <a:latin typeface="Calibri"/>
              </a:rPr>
              <a:t>Oftalmologiyada hamshiralik ishi  |  Axmedova Roxila</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100" b="0">
                <a:solidFill>
                  <a:srgbClr val="5D6D7E"/>
                </a:solidFill>
                <a:latin typeface="Calibri"/>
              </a:rPr>
              <a:t>8/19</a:t>
            </a:r>
          </a:p>
        </p:txBody>
      </p:sp>
      <p:sp>
        <p:nvSpPr>
          <p:cNvPr id="7" name="Rounded Rectangle 6"/>
          <p:cNvSpPr/>
          <p:nvPr/>
        </p:nvSpPr>
        <p:spPr>
          <a:xfrm>
            <a:off x="457200" y="1371600"/>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71600"/>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371600"/>
            <a:ext cx="10927080" cy="859536"/>
          </a:xfrm>
          <a:prstGeom prst="rect">
            <a:avLst/>
          </a:prstGeom>
          <a:noFill/>
        </p:spPr>
        <p:txBody>
          <a:bodyPr wrap="square" anchor="ctr">
            <a:spAutoFit/>
          </a:bodyPr>
          <a:lstStyle/>
          <a:p>
            <a:pPr algn="l"/>
            <a:r>
              <a:rPr sz="2100" b="0">
                <a:solidFill>
                  <a:srgbClr val="1B2631"/>
                </a:solidFill>
                <a:latin typeface="Calibri"/>
              </a:rPr>
              <a:t>V. P. Filatov – shox pardani ko‘chirib o‘tkazish</a:t>
            </a:r>
          </a:p>
        </p:txBody>
      </p:sp>
      <p:sp>
        <p:nvSpPr>
          <p:cNvPr id="10" name="Rounded Rectangle 9"/>
          <p:cNvSpPr/>
          <p:nvPr/>
        </p:nvSpPr>
        <p:spPr>
          <a:xfrm>
            <a:off x="457200" y="2350008"/>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350008"/>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350008"/>
            <a:ext cx="10927080" cy="859536"/>
          </a:xfrm>
          <a:prstGeom prst="rect">
            <a:avLst/>
          </a:prstGeom>
          <a:noFill/>
        </p:spPr>
        <p:txBody>
          <a:bodyPr wrap="square" anchor="ctr">
            <a:spAutoFit/>
          </a:bodyPr>
          <a:lstStyle/>
          <a:p>
            <a:pPr algn="l"/>
            <a:r>
              <a:rPr sz="2100" b="0">
                <a:solidFill>
                  <a:srgbClr val="1B2631"/>
                </a:solidFill>
                <a:latin typeface="Calibri"/>
              </a:rPr>
              <a:t>S. N. Fyodorov – ko‘z mikroxirurgiyasi, sun’iy gavhar</a:t>
            </a:r>
          </a:p>
        </p:txBody>
      </p:sp>
      <p:sp>
        <p:nvSpPr>
          <p:cNvPr id="13" name="Rounded Rectangle 12"/>
          <p:cNvSpPr/>
          <p:nvPr/>
        </p:nvSpPr>
        <p:spPr>
          <a:xfrm>
            <a:off x="457200" y="3328416"/>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328416"/>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328416"/>
            <a:ext cx="10927080" cy="859536"/>
          </a:xfrm>
          <a:prstGeom prst="rect">
            <a:avLst/>
          </a:prstGeom>
          <a:noFill/>
        </p:spPr>
        <p:txBody>
          <a:bodyPr wrap="square" anchor="ctr">
            <a:spAutoFit/>
          </a:bodyPr>
          <a:lstStyle/>
          <a:p>
            <a:pPr algn="l"/>
            <a:r>
              <a:rPr sz="2100" b="0">
                <a:solidFill>
                  <a:srgbClr val="1B2631"/>
                </a:solidFill>
                <a:latin typeface="Calibri"/>
              </a:rPr>
              <a:t>Lazer, ultratovush, optik kogerent tomografiya</a:t>
            </a:r>
          </a:p>
        </p:txBody>
      </p:sp>
      <p:sp>
        <p:nvSpPr>
          <p:cNvPr id="16" name="Rounded Rectangle 15"/>
          <p:cNvSpPr/>
          <p:nvPr/>
        </p:nvSpPr>
        <p:spPr>
          <a:xfrm>
            <a:off x="457200" y="4306824"/>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306824"/>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306824"/>
            <a:ext cx="10927080" cy="859536"/>
          </a:xfrm>
          <a:prstGeom prst="rect">
            <a:avLst/>
          </a:prstGeom>
          <a:noFill/>
        </p:spPr>
        <p:txBody>
          <a:bodyPr wrap="square" anchor="ctr">
            <a:spAutoFit/>
          </a:bodyPr>
          <a:lstStyle/>
          <a:p>
            <a:pPr algn="l"/>
            <a:r>
              <a:rPr sz="2100" b="0">
                <a:solidFill>
                  <a:srgbClr val="1B2631"/>
                </a:solidFill>
                <a:latin typeface="Calibri"/>
              </a:rPr>
              <a:t>O‘zbekistonda traxoma ommaviy kasallik sifatida tugatildi</a:t>
            </a:r>
          </a:p>
        </p:txBody>
      </p:sp>
      <p:sp>
        <p:nvSpPr>
          <p:cNvPr id="19" name="Rounded Rectangle 18"/>
          <p:cNvSpPr/>
          <p:nvPr/>
        </p:nvSpPr>
        <p:spPr>
          <a:xfrm>
            <a:off x="457200" y="5285232"/>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5285232"/>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285232"/>
            <a:ext cx="10927080" cy="859536"/>
          </a:xfrm>
          <a:prstGeom prst="rect">
            <a:avLst/>
          </a:prstGeom>
          <a:noFill/>
        </p:spPr>
        <p:txBody>
          <a:bodyPr wrap="square" anchor="ctr">
            <a:spAutoFit/>
          </a:bodyPr>
          <a:lstStyle/>
          <a:p>
            <a:pPr algn="l"/>
            <a:r>
              <a:rPr sz="2100" b="0">
                <a:solidFill>
                  <a:srgbClr val="1B2631"/>
                </a:solidFill>
                <a:latin typeface="Calibri"/>
              </a:rPr>
              <a:t>Respublika ko‘z mikroxirurgiyasi markazi va filiallari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77240"/>
          </a:xfrm>
          <a:prstGeom prst="rect">
            <a:avLst/>
          </a:prstGeom>
          <a:noFill/>
        </p:spPr>
        <p:txBody>
          <a:bodyPr wrap="square" anchor="ctr">
            <a:spAutoFit/>
          </a:bodyPr>
          <a:lstStyle/>
          <a:p>
            <a:pPr algn="l"/>
            <a:r>
              <a:rPr sz="3000" b="1">
                <a:solidFill>
                  <a:srgbClr val="FFFFFF"/>
                </a:solidFill>
                <a:latin typeface="Calibri"/>
              </a:rPr>
              <a:t>Ko‘ruv analizatori</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r>
              <a:rPr sz="1100" b="0">
                <a:solidFill>
                  <a:srgbClr val="5D6D7E"/>
                </a:solidFill>
                <a:latin typeface="Calibri"/>
              </a:rPr>
              <a:t>Oftalmologiyada hamshiralik ishi  |  Axmedova Roxila</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100" b="0">
                <a:solidFill>
                  <a:srgbClr val="5D6D7E"/>
                </a:solidFill>
                <a:latin typeface="Calibri"/>
              </a:rPr>
              <a:t>9/19</a:t>
            </a:r>
          </a:p>
        </p:txBody>
      </p:sp>
      <p:pic>
        <p:nvPicPr>
          <p:cNvPr id="7" name="Picture 6" descr="03_koruv_yoli.png"/>
          <p:cNvPicPr>
            <a:picLocks noChangeAspect="1"/>
          </p:cNvPicPr>
          <p:nvPr/>
        </p:nvPicPr>
        <p:blipFill>
          <a:blip r:embed="rId2"/>
          <a:stretch>
            <a:fillRect/>
          </a:stretch>
        </p:blipFill>
        <p:spPr>
          <a:xfrm>
            <a:off x="1721644" y="1188720"/>
            <a:ext cx="8718232" cy="516636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77240"/>
          </a:xfrm>
          <a:prstGeom prst="rect">
            <a:avLst/>
          </a:prstGeom>
          <a:noFill/>
        </p:spPr>
        <p:txBody>
          <a:bodyPr wrap="square" anchor="ctr">
            <a:spAutoFit/>
          </a:bodyPr>
          <a:lstStyle/>
          <a:p>
            <a:pPr algn="l"/>
            <a:r>
              <a:rPr sz="3000" b="1">
                <a:solidFill>
                  <a:srgbClr val="FFFFFF"/>
                </a:solidFill>
                <a:latin typeface="Calibri"/>
              </a:rPr>
              <a:t>Ko‘z olmasining tuzilishi</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r>
              <a:rPr sz="1100" b="0">
                <a:solidFill>
                  <a:srgbClr val="5D6D7E"/>
                </a:solidFill>
                <a:latin typeface="Calibri"/>
              </a:rPr>
              <a:t>Oftalmologiyada hamshiralik ishi  |  Axmedova Roxila</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100" b="0">
                <a:solidFill>
                  <a:srgbClr val="5D6D7E"/>
                </a:solidFill>
                <a:latin typeface="Calibri"/>
              </a:rPr>
              <a:t>10/19</a:t>
            </a:r>
          </a:p>
        </p:txBody>
      </p:sp>
      <p:pic>
        <p:nvPicPr>
          <p:cNvPr id="7" name="Picture 6" descr="01_koz_kesimi_belgili.png"/>
          <p:cNvPicPr>
            <a:picLocks noChangeAspect="1"/>
          </p:cNvPicPr>
          <p:nvPr/>
        </p:nvPicPr>
        <p:blipFill>
          <a:blip r:embed="rId2"/>
          <a:stretch>
            <a:fillRect/>
          </a:stretch>
        </p:blipFill>
        <p:spPr>
          <a:xfrm>
            <a:off x="1081057" y="1188720"/>
            <a:ext cx="9999406" cy="516636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77240"/>
          </a:xfrm>
          <a:prstGeom prst="rect">
            <a:avLst/>
          </a:prstGeom>
          <a:noFill/>
        </p:spPr>
        <p:txBody>
          <a:bodyPr wrap="square" anchor="ctr">
            <a:spAutoFit/>
          </a:bodyPr>
          <a:lstStyle/>
          <a:p>
            <a:pPr algn="l"/>
            <a:r>
              <a:rPr sz="3000" b="1">
                <a:solidFill>
                  <a:srgbClr val="FFFFFF"/>
                </a:solidFill>
                <a:latin typeface="Calibri"/>
              </a:rPr>
              <a:t>Tashqi – fibroz parda</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r>
              <a:rPr sz="1100" b="0">
                <a:solidFill>
                  <a:srgbClr val="5D6D7E"/>
                </a:solidFill>
                <a:latin typeface="Calibri"/>
              </a:rPr>
              <a:t>Oftalmologiyada hamshiralik ishi  |  Axmedova Roxila</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100" b="0">
                <a:solidFill>
                  <a:srgbClr val="5D6D7E"/>
                </a:solidFill>
                <a:latin typeface="Calibri"/>
              </a:rPr>
              <a:t>11/19</a:t>
            </a:r>
          </a:p>
        </p:txBody>
      </p:sp>
      <p:sp>
        <p:nvSpPr>
          <p:cNvPr id="7" name="Rounded Rectangle 6"/>
          <p:cNvSpPr/>
          <p:nvPr/>
        </p:nvSpPr>
        <p:spPr>
          <a:xfrm>
            <a:off x="457200" y="1371600"/>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71600"/>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371600"/>
            <a:ext cx="10927080" cy="859536"/>
          </a:xfrm>
          <a:prstGeom prst="rect">
            <a:avLst/>
          </a:prstGeom>
          <a:noFill/>
        </p:spPr>
        <p:txBody>
          <a:bodyPr wrap="square" anchor="ctr">
            <a:spAutoFit/>
          </a:bodyPr>
          <a:lstStyle/>
          <a:p>
            <a:pPr algn="l"/>
            <a:r>
              <a:rPr sz="2100" b="0">
                <a:solidFill>
                  <a:srgbClr val="1B2631"/>
                </a:solidFill>
                <a:latin typeface="Calibri"/>
              </a:rPr>
              <a:t>Shox parda (1/6): tiniq, tomirsiz, nervlarga boy; diametri 11–12 mm</a:t>
            </a:r>
          </a:p>
        </p:txBody>
      </p:sp>
      <p:sp>
        <p:nvSpPr>
          <p:cNvPr id="10" name="Rounded Rectangle 9"/>
          <p:cNvSpPr/>
          <p:nvPr/>
        </p:nvSpPr>
        <p:spPr>
          <a:xfrm>
            <a:off x="457200" y="2350008"/>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350008"/>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350008"/>
            <a:ext cx="10927080" cy="859536"/>
          </a:xfrm>
          <a:prstGeom prst="rect">
            <a:avLst/>
          </a:prstGeom>
          <a:noFill/>
        </p:spPr>
        <p:txBody>
          <a:bodyPr wrap="square" anchor="ctr">
            <a:spAutoFit/>
          </a:bodyPr>
          <a:lstStyle/>
          <a:p>
            <a:pPr algn="l"/>
            <a:r>
              <a:rPr sz="2100" b="0">
                <a:solidFill>
                  <a:srgbClr val="1B2631"/>
                </a:solidFill>
                <a:latin typeface="Calibri"/>
              </a:rPr>
              <a:t>Shox parda 5 qavat; sindirish kuchi 40–43 D</a:t>
            </a:r>
          </a:p>
        </p:txBody>
      </p:sp>
      <p:sp>
        <p:nvSpPr>
          <p:cNvPr id="13" name="Rounded Rectangle 12"/>
          <p:cNvSpPr/>
          <p:nvPr/>
        </p:nvSpPr>
        <p:spPr>
          <a:xfrm>
            <a:off x="457200" y="3328416"/>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328416"/>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328416"/>
            <a:ext cx="10927080" cy="859536"/>
          </a:xfrm>
          <a:prstGeom prst="rect">
            <a:avLst/>
          </a:prstGeom>
          <a:noFill/>
        </p:spPr>
        <p:txBody>
          <a:bodyPr wrap="square" anchor="ctr">
            <a:spAutoFit/>
          </a:bodyPr>
          <a:lstStyle/>
          <a:p>
            <a:pPr algn="l"/>
            <a:r>
              <a:rPr sz="2100" b="0">
                <a:solidFill>
                  <a:srgbClr val="1B2631"/>
                </a:solidFill>
                <a:latin typeface="Calibri"/>
              </a:rPr>
              <a:t>Oziqlanishi: ko‘z ichi suyuqligi, ko‘z yoshi, limb tomirlari</a:t>
            </a:r>
          </a:p>
        </p:txBody>
      </p:sp>
      <p:sp>
        <p:nvSpPr>
          <p:cNvPr id="16" name="Rounded Rectangle 15"/>
          <p:cNvSpPr/>
          <p:nvPr/>
        </p:nvSpPr>
        <p:spPr>
          <a:xfrm>
            <a:off x="457200" y="4306824"/>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306824"/>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306824"/>
            <a:ext cx="10927080" cy="859536"/>
          </a:xfrm>
          <a:prstGeom prst="rect">
            <a:avLst/>
          </a:prstGeom>
          <a:noFill/>
        </p:spPr>
        <p:txBody>
          <a:bodyPr wrap="square" anchor="ctr">
            <a:spAutoFit/>
          </a:bodyPr>
          <a:lstStyle/>
          <a:p>
            <a:pPr algn="l"/>
            <a:r>
              <a:rPr sz="2100" b="0">
                <a:solidFill>
                  <a:srgbClr val="1B2631"/>
                </a:solidFill>
                <a:latin typeface="Calibri"/>
              </a:rPr>
              <a:t>Sklera (5/6): oq, zich, qalinligi 0,3–1 mm</a:t>
            </a:r>
          </a:p>
        </p:txBody>
      </p:sp>
      <p:sp>
        <p:nvSpPr>
          <p:cNvPr id="19" name="Rounded Rectangle 18"/>
          <p:cNvSpPr/>
          <p:nvPr/>
        </p:nvSpPr>
        <p:spPr>
          <a:xfrm>
            <a:off x="457200" y="5285232"/>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5285232"/>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285232"/>
            <a:ext cx="10927080" cy="859536"/>
          </a:xfrm>
          <a:prstGeom prst="rect">
            <a:avLst/>
          </a:prstGeom>
          <a:noFill/>
        </p:spPr>
        <p:txBody>
          <a:bodyPr wrap="square" anchor="ctr">
            <a:spAutoFit/>
          </a:bodyPr>
          <a:lstStyle/>
          <a:p>
            <a:pPr algn="l"/>
            <a:r>
              <a:rPr sz="2100" b="0">
                <a:solidFill>
                  <a:srgbClr val="1B2631"/>
                </a:solidFill>
                <a:latin typeface="Calibri"/>
              </a:rPr>
              <a:t>Limb – shox pardaning skleraga o‘tish joyi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77240"/>
          </a:xfrm>
          <a:prstGeom prst="rect">
            <a:avLst/>
          </a:prstGeom>
          <a:noFill/>
        </p:spPr>
        <p:txBody>
          <a:bodyPr wrap="square" anchor="ctr">
            <a:spAutoFit/>
          </a:bodyPr>
          <a:lstStyle/>
          <a:p>
            <a:pPr algn="l"/>
            <a:r>
              <a:rPr sz="3000" b="1">
                <a:solidFill>
                  <a:srgbClr val="FFFFFF"/>
                </a:solidFill>
                <a:latin typeface="Calibri"/>
              </a:rPr>
              <a:t>O‘rta – tomirli parda</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r>
              <a:rPr sz="1100" b="0">
                <a:solidFill>
                  <a:srgbClr val="5D6D7E"/>
                </a:solidFill>
                <a:latin typeface="Calibri"/>
              </a:rPr>
              <a:t>Oftalmologiyada hamshiralik ishi  |  Axmedova Roxila</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100" b="0">
                <a:solidFill>
                  <a:srgbClr val="5D6D7E"/>
                </a:solidFill>
                <a:latin typeface="Calibri"/>
              </a:rPr>
              <a:t>12/19</a:t>
            </a:r>
          </a:p>
        </p:txBody>
      </p:sp>
      <p:sp>
        <p:nvSpPr>
          <p:cNvPr id="7" name="Rounded Rectangle 6"/>
          <p:cNvSpPr/>
          <p:nvPr/>
        </p:nvSpPr>
        <p:spPr>
          <a:xfrm>
            <a:off x="457200" y="1371600"/>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71600"/>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371600"/>
            <a:ext cx="10927080" cy="859536"/>
          </a:xfrm>
          <a:prstGeom prst="rect">
            <a:avLst/>
          </a:prstGeom>
          <a:noFill/>
        </p:spPr>
        <p:txBody>
          <a:bodyPr wrap="square" anchor="ctr">
            <a:spAutoFit/>
          </a:bodyPr>
          <a:lstStyle/>
          <a:p>
            <a:pPr algn="l"/>
            <a:r>
              <a:rPr sz="2100" b="0">
                <a:solidFill>
                  <a:srgbClr val="1B2631"/>
                </a:solidFill>
                <a:latin typeface="Calibri"/>
              </a:rPr>
              <a:t>Rangdor parda – ko‘z rangi, markazida qorachiq (3–4 mm)</a:t>
            </a:r>
          </a:p>
        </p:txBody>
      </p:sp>
      <p:sp>
        <p:nvSpPr>
          <p:cNvPr id="10" name="Rounded Rectangle 9"/>
          <p:cNvSpPr/>
          <p:nvPr/>
        </p:nvSpPr>
        <p:spPr>
          <a:xfrm>
            <a:off x="457200" y="2350008"/>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350008"/>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350008"/>
            <a:ext cx="10927080" cy="859536"/>
          </a:xfrm>
          <a:prstGeom prst="rect">
            <a:avLst/>
          </a:prstGeom>
          <a:noFill/>
        </p:spPr>
        <p:txBody>
          <a:bodyPr wrap="square" anchor="ctr">
            <a:spAutoFit/>
          </a:bodyPr>
          <a:lstStyle/>
          <a:p>
            <a:pPr algn="l"/>
            <a:r>
              <a:rPr sz="2100" b="0">
                <a:solidFill>
                  <a:srgbClr val="1B2631"/>
                </a:solidFill>
                <a:latin typeface="Calibri"/>
              </a:rPr>
              <a:t>Qorachiq yorug‘likda torayadi, qorong‘ida kengayadi</a:t>
            </a:r>
          </a:p>
        </p:txBody>
      </p:sp>
      <p:sp>
        <p:nvSpPr>
          <p:cNvPr id="13" name="Rounded Rectangle 12"/>
          <p:cNvSpPr/>
          <p:nvPr/>
        </p:nvSpPr>
        <p:spPr>
          <a:xfrm>
            <a:off x="457200" y="3328416"/>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328416"/>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328416"/>
            <a:ext cx="10927080" cy="859536"/>
          </a:xfrm>
          <a:prstGeom prst="rect">
            <a:avLst/>
          </a:prstGeom>
          <a:noFill/>
        </p:spPr>
        <p:txBody>
          <a:bodyPr wrap="square" anchor="ctr">
            <a:spAutoFit/>
          </a:bodyPr>
          <a:lstStyle/>
          <a:p>
            <a:pPr algn="l"/>
            <a:r>
              <a:rPr sz="2100" b="0">
                <a:solidFill>
                  <a:srgbClr val="1B2631"/>
                </a:solidFill>
                <a:latin typeface="Calibri"/>
              </a:rPr>
              <a:t>Kiprikli tana – ko‘z ichi suyuqligini ishlab chiqaradi</a:t>
            </a:r>
          </a:p>
        </p:txBody>
      </p:sp>
      <p:sp>
        <p:nvSpPr>
          <p:cNvPr id="16" name="Rounded Rectangle 15"/>
          <p:cNvSpPr/>
          <p:nvPr/>
        </p:nvSpPr>
        <p:spPr>
          <a:xfrm>
            <a:off x="457200" y="4306824"/>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306824"/>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306824"/>
            <a:ext cx="10927080" cy="859536"/>
          </a:xfrm>
          <a:prstGeom prst="rect">
            <a:avLst/>
          </a:prstGeom>
          <a:noFill/>
        </p:spPr>
        <p:txBody>
          <a:bodyPr wrap="square" anchor="ctr">
            <a:spAutoFit/>
          </a:bodyPr>
          <a:lstStyle/>
          <a:p>
            <a:pPr algn="l"/>
            <a:r>
              <a:rPr sz="2100" b="0">
                <a:solidFill>
                  <a:srgbClr val="1B2631"/>
                </a:solidFill>
                <a:latin typeface="Calibri"/>
              </a:rPr>
              <a:t>Kiprikli muskul – akkomodatsiya</a:t>
            </a:r>
          </a:p>
        </p:txBody>
      </p:sp>
      <p:sp>
        <p:nvSpPr>
          <p:cNvPr id="19" name="Rounded Rectangle 18"/>
          <p:cNvSpPr/>
          <p:nvPr/>
        </p:nvSpPr>
        <p:spPr>
          <a:xfrm>
            <a:off x="457200" y="5285232"/>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5285232"/>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285232"/>
            <a:ext cx="10927080" cy="859536"/>
          </a:xfrm>
          <a:prstGeom prst="rect">
            <a:avLst/>
          </a:prstGeom>
          <a:noFill/>
        </p:spPr>
        <p:txBody>
          <a:bodyPr wrap="square" anchor="ctr">
            <a:spAutoFit/>
          </a:bodyPr>
          <a:lstStyle/>
          <a:p>
            <a:pPr algn="l"/>
            <a:r>
              <a:rPr sz="2100" b="0">
                <a:solidFill>
                  <a:srgbClr val="1B2631"/>
                </a:solidFill>
                <a:latin typeface="Calibri"/>
              </a:rPr>
              <a:t>Xususiy tomirli parda – to‘r pardani oziqlantiradi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77240"/>
          </a:xfrm>
          <a:prstGeom prst="rect">
            <a:avLst/>
          </a:prstGeom>
          <a:noFill/>
        </p:spPr>
        <p:txBody>
          <a:bodyPr wrap="square" anchor="ctr">
            <a:spAutoFit/>
          </a:bodyPr>
          <a:lstStyle/>
          <a:p>
            <a:pPr algn="l"/>
            <a:r>
              <a:rPr sz="3000" b="1">
                <a:solidFill>
                  <a:srgbClr val="FFFFFF"/>
                </a:solidFill>
                <a:latin typeface="Calibri"/>
              </a:rPr>
              <a:t>Ichki – to‘r parda</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r>
              <a:rPr sz="1100" b="0">
                <a:solidFill>
                  <a:srgbClr val="5D6D7E"/>
                </a:solidFill>
                <a:latin typeface="Calibri"/>
              </a:rPr>
              <a:t>Oftalmologiyada hamshiralik ishi  |  Axmedova Roxila</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100" b="0">
                <a:solidFill>
                  <a:srgbClr val="5D6D7E"/>
                </a:solidFill>
                <a:latin typeface="Calibri"/>
              </a:rPr>
              <a:t>13/19</a:t>
            </a:r>
          </a:p>
        </p:txBody>
      </p:sp>
      <p:sp>
        <p:nvSpPr>
          <p:cNvPr id="7" name="Rounded Rectangle 6"/>
          <p:cNvSpPr/>
          <p:nvPr/>
        </p:nvSpPr>
        <p:spPr>
          <a:xfrm>
            <a:off x="457200" y="1371600"/>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71600"/>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371600"/>
            <a:ext cx="10927080" cy="859536"/>
          </a:xfrm>
          <a:prstGeom prst="rect">
            <a:avLst/>
          </a:prstGeom>
          <a:noFill/>
        </p:spPr>
        <p:txBody>
          <a:bodyPr wrap="square" anchor="ctr">
            <a:spAutoFit/>
          </a:bodyPr>
          <a:lstStyle/>
          <a:p>
            <a:pPr algn="l"/>
            <a:r>
              <a:rPr sz="2100" b="0">
                <a:solidFill>
                  <a:srgbClr val="1B2631"/>
                </a:solidFill>
                <a:latin typeface="Calibri"/>
              </a:rPr>
              <a:t>Tayoqchalar (120–130 mln) – g‘ira-shira va qorong‘ida ko‘rish</a:t>
            </a:r>
          </a:p>
        </p:txBody>
      </p:sp>
      <p:sp>
        <p:nvSpPr>
          <p:cNvPr id="10" name="Rounded Rectangle 9"/>
          <p:cNvSpPr/>
          <p:nvPr/>
        </p:nvSpPr>
        <p:spPr>
          <a:xfrm>
            <a:off x="457200" y="2350008"/>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350008"/>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350008"/>
            <a:ext cx="10927080" cy="859536"/>
          </a:xfrm>
          <a:prstGeom prst="rect">
            <a:avLst/>
          </a:prstGeom>
          <a:noFill/>
        </p:spPr>
        <p:txBody>
          <a:bodyPr wrap="square" anchor="ctr">
            <a:spAutoFit/>
          </a:bodyPr>
          <a:lstStyle/>
          <a:p>
            <a:pPr algn="l"/>
            <a:r>
              <a:rPr sz="2100" b="0">
                <a:solidFill>
                  <a:srgbClr val="1B2631"/>
                </a:solidFill>
                <a:latin typeface="Calibri"/>
              </a:rPr>
              <a:t>Kolbachalar (6–7 mln) – kunduzgi va rangli ko‘rish</a:t>
            </a:r>
          </a:p>
        </p:txBody>
      </p:sp>
      <p:sp>
        <p:nvSpPr>
          <p:cNvPr id="13" name="Rounded Rectangle 12"/>
          <p:cNvSpPr/>
          <p:nvPr/>
        </p:nvSpPr>
        <p:spPr>
          <a:xfrm>
            <a:off x="457200" y="3328416"/>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328416"/>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328416"/>
            <a:ext cx="10927080" cy="859536"/>
          </a:xfrm>
          <a:prstGeom prst="rect">
            <a:avLst/>
          </a:prstGeom>
          <a:noFill/>
        </p:spPr>
        <p:txBody>
          <a:bodyPr wrap="square" anchor="ctr">
            <a:spAutoFit/>
          </a:bodyPr>
          <a:lstStyle/>
          <a:p>
            <a:pPr algn="l"/>
            <a:r>
              <a:rPr sz="2100" b="0">
                <a:solidFill>
                  <a:srgbClr val="1B2631"/>
                </a:solidFill>
                <a:latin typeface="Calibri"/>
              </a:rPr>
              <a:t>Sariq dog‘ – eng aniq ko‘rish nuqtasi</a:t>
            </a:r>
          </a:p>
        </p:txBody>
      </p:sp>
      <p:sp>
        <p:nvSpPr>
          <p:cNvPr id="16" name="Rounded Rectangle 15"/>
          <p:cNvSpPr/>
          <p:nvPr/>
        </p:nvSpPr>
        <p:spPr>
          <a:xfrm>
            <a:off x="457200" y="4306824"/>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306824"/>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306824"/>
            <a:ext cx="10927080" cy="859536"/>
          </a:xfrm>
          <a:prstGeom prst="rect">
            <a:avLst/>
          </a:prstGeom>
          <a:noFill/>
        </p:spPr>
        <p:txBody>
          <a:bodyPr wrap="square" anchor="ctr">
            <a:spAutoFit/>
          </a:bodyPr>
          <a:lstStyle/>
          <a:p>
            <a:pPr algn="l"/>
            <a:r>
              <a:rPr sz="2100" b="0">
                <a:solidFill>
                  <a:srgbClr val="1B2631"/>
                </a:solidFill>
                <a:latin typeface="Calibri"/>
              </a:rPr>
              <a:t>Ko‘ruv nervi diski – “ko‘r dog‘” (fotoretseptorlar yo‘q)</a:t>
            </a:r>
          </a:p>
        </p:txBody>
      </p:sp>
      <p:sp>
        <p:nvSpPr>
          <p:cNvPr id="19" name="Rounded Rectangle 18"/>
          <p:cNvSpPr/>
          <p:nvPr/>
        </p:nvSpPr>
        <p:spPr>
          <a:xfrm>
            <a:off x="457200" y="5285232"/>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5285232"/>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285232"/>
            <a:ext cx="10927080" cy="859536"/>
          </a:xfrm>
          <a:prstGeom prst="rect">
            <a:avLst/>
          </a:prstGeom>
          <a:noFill/>
        </p:spPr>
        <p:txBody>
          <a:bodyPr wrap="square" anchor="ctr">
            <a:spAutoFit/>
          </a:bodyPr>
          <a:lstStyle/>
          <a:p>
            <a:pPr algn="l"/>
            <a:r>
              <a:rPr sz="2100" b="0">
                <a:solidFill>
                  <a:srgbClr val="1B2631"/>
                </a:solidFill>
                <a:latin typeface="Calibri"/>
              </a:rPr>
              <a:t>Rodopsin uchun A vitamini zarur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77240"/>
          </a:xfrm>
          <a:prstGeom prst="rect">
            <a:avLst/>
          </a:prstGeom>
          <a:noFill/>
        </p:spPr>
        <p:txBody>
          <a:bodyPr wrap="square" anchor="ctr">
            <a:spAutoFit/>
          </a:bodyPr>
          <a:lstStyle/>
          <a:p>
            <a:pPr algn="l"/>
            <a:r>
              <a:rPr sz="3000" b="1">
                <a:solidFill>
                  <a:srgbClr val="FFFFFF"/>
                </a:solidFill>
                <a:latin typeface="Calibri"/>
              </a:rPr>
              <a:t>Ichki tiniq muhitlar va yordamchi apparat</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r>
              <a:rPr sz="1100" b="0">
                <a:solidFill>
                  <a:srgbClr val="5D6D7E"/>
                </a:solidFill>
                <a:latin typeface="Calibri"/>
              </a:rPr>
              <a:t>Oftalmologiyada hamshiralik ishi  |  Axmedova Roxila</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100" b="0">
                <a:solidFill>
                  <a:srgbClr val="5D6D7E"/>
                </a:solidFill>
                <a:latin typeface="Calibri"/>
              </a:rPr>
              <a:t>14/19</a:t>
            </a:r>
          </a:p>
        </p:txBody>
      </p:sp>
      <p:pic>
        <p:nvPicPr>
          <p:cNvPr id="7" name="Picture 6" descr="08_klaster_koruv_organi.png"/>
          <p:cNvPicPr>
            <a:picLocks noChangeAspect="1"/>
          </p:cNvPicPr>
          <p:nvPr/>
        </p:nvPicPr>
        <p:blipFill>
          <a:blip r:embed="rId2"/>
          <a:stretch>
            <a:fillRect/>
          </a:stretch>
        </p:blipFill>
        <p:spPr>
          <a:xfrm>
            <a:off x="1283426" y="1188720"/>
            <a:ext cx="9594668" cy="516636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77240"/>
          </a:xfrm>
          <a:prstGeom prst="rect">
            <a:avLst/>
          </a:prstGeom>
          <a:noFill/>
        </p:spPr>
        <p:txBody>
          <a:bodyPr wrap="square" anchor="ctr">
            <a:spAutoFit/>
          </a:bodyPr>
          <a:lstStyle/>
          <a:p>
            <a:pPr algn="l"/>
            <a:r>
              <a:rPr sz="3000" b="1">
                <a:solidFill>
                  <a:srgbClr val="FFFFFF"/>
                </a:solidFill>
                <a:latin typeface="Calibri"/>
              </a:rPr>
              <a:t>Ko‘zning 5 ta ko‘rish funksiyasi</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r>
              <a:rPr sz="1100" b="0">
                <a:solidFill>
                  <a:srgbClr val="5D6D7E"/>
                </a:solidFill>
                <a:latin typeface="Calibri"/>
              </a:rPr>
              <a:t>Oftalmologiyada hamshiralik ishi  |  Axmedova Roxila</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100" b="0">
                <a:solidFill>
                  <a:srgbClr val="5D6D7E"/>
                </a:solidFill>
                <a:latin typeface="Calibri"/>
              </a:rPr>
              <a:t>15/19</a:t>
            </a:r>
          </a:p>
        </p:txBody>
      </p:sp>
      <p:sp>
        <p:nvSpPr>
          <p:cNvPr id="7" name="Rounded Rectangle 6"/>
          <p:cNvSpPr/>
          <p:nvPr/>
        </p:nvSpPr>
        <p:spPr>
          <a:xfrm>
            <a:off x="457200" y="1371600"/>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71600"/>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371600"/>
            <a:ext cx="10927080" cy="859536"/>
          </a:xfrm>
          <a:prstGeom prst="rect">
            <a:avLst/>
          </a:prstGeom>
          <a:noFill/>
        </p:spPr>
        <p:txBody>
          <a:bodyPr wrap="square" anchor="ctr">
            <a:spAutoFit/>
          </a:bodyPr>
          <a:lstStyle/>
          <a:p>
            <a:pPr algn="l"/>
            <a:r>
              <a:rPr sz="2100" b="0">
                <a:solidFill>
                  <a:srgbClr val="1B2631"/>
                </a:solidFill>
                <a:latin typeface="Calibri"/>
              </a:rPr>
              <a:t>1. Markaziy ko‘rish – ko‘rish o‘tkirligi (visus)</a:t>
            </a:r>
          </a:p>
        </p:txBody>
      </p:sp>
      <p:sp>
        <p:nvSpPr>
          <p:cNvPr id="10" name="Rounded Rectangle 9"/>
          <p:cNvSpPr/>
          <p:nvPr/>
        </p:nvSpPr>
        <p:spPr>
          <a:xfrm>
            <a:off x="457200" y="2350008"/>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350008"/>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350008"/>
            <a:ext cx="10927080" cy="859536"/>
          </a:xfrm>
          <a:prstGeom prst="rect">
            <a:avLst/>
          </a:prstGeom>
          <a:noFill/>
        </p:spPr>
        <p:txBody>
          <a:bodyPr wrap="square" anchor="ctr">
            <a:spAutoFit/>
          </a:bodyPr>
          <a:lstStyle/>
          <a:p>
            <a:pPr algn="l"/>
            <a:r>
              <a:rPr sz="2100" b="0">
                <a:solidFill>
                  <a:srgbClr val="1B2631"/>
                </a:solidFill>
                <a:latin typeface="Calibri"/>
              </a:rPr>
              <a:t>2. Periferik ko‘rish – ko‘ruv maydoni</a:t>
            </a:r>
          </a:p>
        </p:txBody>
      </p:sp>
      <p:sp>
        <p:nvSpPr>
          <p:cNvPr id="13" name="Rounded Rectangle 12"/>
          <p:cNvSpPr/>
          <p:nvPr/>
        </p:nvSpPr>
        <p:spPr>
          <a:xfrm>
            <a:off x="457200" y="3328416"/>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328416"/>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328416"/>
            <a:ext cx="10927080" cy="859536"/>
          </a:xfrm>
          <a:prstGeom prst="rect">
            <a:avLst/>
          </a:prstGeom>
          <a:noFill/>
        </p:spPr>
        <p:txBody>
          <a:bodyPr wrap="square" anchor="ctr">
            <a:spAutoFit/>
          </a:bodyPr>
          <a:lstStyle/>
          <a:p>
            <a:pPr algn="l"/>
            <a:r>
              <a:rPr sz="2100" b="0">
                <a:solidFill>
                  <a:srgbClr val="1B2631"/>
                </a:solidFill>
                <a:latin typeface="Calibri"/>
              </a:rPr>
              <a:t>3. Rang ko‘rish</a:t>
            </a:r>
          </a:p>
        </p:txBody>
      </p:sp>
      <p:sp>
        <p:nvSpPr>
          <p:cNvPr id="16" name="Rounded Rectangle 15"/>
          <p:cNvSpPr/>
          <p:nvPr/>
        </p:nvSpPr>
        <p:spPr>
          <a:xfrm>
            <a:off x="457200" y="4306824"/>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306824"/>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306824"/>
            <a:ext cx="10927080" cy="859536"/>
          </a:xfrm>
          <a:prstGeom prst="rect">
            <a:avLst/>
          </a:prstGeom>
          <a:noFill/>
        </p:spPr>
        <p:txBody>
          <a:bodyPr wrap="square" anchor="ctr">
            <a:spAutoFit/>
          </a:bodyPr>
          <a:lstStyle/>
          <a:p>
            <a:pPr algn="l"/>
            <a:r>
              <a:rPr sz="2100" b="0">
                <a:solidFill>
                  <a:srgbClr val="1B2631"/>
                </a:solidFill>
                <a:latin typeface="Calibri"/>
              </a:rPr>
              <a:t>4. Yorug‘lik sezish va adaptatsiya</a:t>
            </a:r>
          </a:p>
        </p:txBody>
      </p:sp>
      <p:sp>
        <p:nvSpPr>
          <p:cNvPr id="19" name="Rounded Rectangle 18"/>
          <p:cNvSpPr/>
          <p:nvPr/>
        </p:nvSpPr>
        <p:spPr>
          <a:xfrm>
            <a:off x="457200" y="5285232"/>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5285232"/>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285232"/>
            <a:ext cx="10927080" cy="859536"/>
          </a:xfrm>
          <a:prstGeom prst="rect">
            <a:avLst/>
          </a:prstGeom>
          <a:noFill/>
        </p:spPr>
        <p:txBody>
          <a:bodyPr wrap="square" anchor="ctr">
            <a:spAutoFit/>
          </a:bodyPr>
          <a:lstStyle/>
          <a:p>
            <a:pPr algn="l"/>
            <a:r>
              <a:rPr sz="2100" b="0">
                <a:solidFill>
                  <a:srgbClr val="1B2631"/>
                </a:solidFill>
                <a:latin typeface="Calibri"/>
              </a:rPr>
              <a:t>5. Binokulyar ko‘rish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77240"/>
          </a:xfrm>
          <a:prstGeom prst="rect">
            <a:avLst/>
          </a:prstGeom>
          <a:noFill/>
        </p:spPr>
        <p:txBody>
          <a:bodyPr wrap="square" anchor="ctr">
            <a:spAutoFit/>
          </a:bodyPr>
          <a:lstStyle/>
          <a:p>
            <a:pPr algn="l"/>
            <a:r>
              <a:rPr sz="3000" b="1">
                <a:solidFill>
                  <a:srgbClr val="FFFFFF"/>
                </a:solidFill>
                <a:latin typeface="Calibri"/>
              </a:rPr>
              <a:t>Ko‘rish o‘tkirligini tekshirish</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r>
              <a:rPr sz="1100" b="0">
                <a:solidFill>
                  <a:srgbClr val="5D6D7E"/>
                </a:solidFill>
                <a:latin typeface="Calibri"/>
              </a:rPr>
              <a:t>Oftalmologiyada hamshiralik ishi  |  Axmedova Roxila</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100" b="0">
                <a:solidFill>
                  <a:srgbClr val="5D6D7E"/>
                </a:solidFill>
                <a:latin typeface="Calibri"/>
              </a:rPr>
              <a:t>16/19</a:t>
            </a:r>
          </a:p>
        </p:txBody>
      </p:sp>
      <p:sp>
        <p:nvSpPr>
          <p:cNvPr id="7" name="Rounded Rectangle 6"/>
          <p:cNvSpPr/>
          <p:nvPr/>
        </p:nvSpPr>
        <p:spPr>
          <a:xfrm>
            <a:off x="457200" y="1371600"/>
            <a:ext cx="57607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71600"/>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371600"/>
            <a:ext cx="5440680" cy="859536"/>
          </a:xfrm>
          <a:prstGeom prst="rect">
            <a:avLst/>
          </a:prstGeom>
          <a:noFill/>
        </p:spPr>
        <p:txBody>
          <a:bodyPr wrap="square" anchor="ctr">
            <a:spAutoFit/>
          </a:bodyPr>
          <a:lstStyle/>
          <a:p>
            <a:pPr algn="l"/>
            <a:r>
              <a:rPr sz="1800" b="0">
                <a:solidFill>
                  <a:srgbClr val="1B2631"/>
                </a:solidFill>
                <a:latin typeface="Calibri"/>
              </a:rPr>
              <a:t>Sivtsev–Golovin jadvali, 5 m masofa</a:t>
            </a:r>
          </a:p>
        </p:txBody>
      </p:sp>
      <p:sp>
        <p:nvSpPr>
          <p:cNvPr id="10" name="Rounded Rectangle 9"/>
          <p:cNvSpPr/>
          <p:nvPr/>
        </p:nvSpPr>
        <p:spPr>
          <a:xfrm>
            <a:off x="457200" y="2350008"/>
            <a:ext cx="57607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350008"/>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350008"/>
            <a:ext cx="5440680" cy="859536"/>
          </a:xfrm>
          <a:prstGeom prst="rect">
            <a:avLst/>
          </a:prstGeom>
          <a:noFill/>
        </p:spPr>
        <p:txBody>
          <a:bodyPr wrap="square" anchor="ctr">
            <a:spAutoFit/>
          </a:bodyPr>
          <a:lstStyle/>
          <a:p>
            <a:pPr algn="l"/>
            <a:r>
              <a:rPr sz="1800" b="0">
                <a:solidFill>
                  <a:srgbClr val="1B2631"/>
                </a:solidFill>
                <a:latin typeface="Calibri"/>
              </a:rPr>
              <a:t>Har bir ko‘z alohida, ko‘zni bosmasdan yopish</a:t>
            </a:r>
          </a:p>
        </p:txBody>
      </p:sp>
      <p:sp>
        <p:nvSpPr>
          <p:cNvPr id="13" name="Rounded Rectangle 12"/>
          <p:cNvSpPr/>
          <p:nvPr/>
        </p:nvSpPr>
        <p:spPr>
          <a:xfrm>
            <a:off x="457200" y="3328416"/>
            <a:ext cx="57607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328416"/>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328416"/>
            <a:ext cx="5440680" cy="859536"/>
          </a:xfrm>
          <a:prstGeom prst="rect">
            <a:avLst/>
          </a:prstGeom>
          <a:noFill/>
        </p:spPr>
        <p:txBody>
          <a:bodyPr wrap="square" anchor="ctr">
            <a:spAutoFit/>
          </a:bodyPr>
          <a:lstStyle/>
          <a:p>
            <a:pPr algn="l"/>
            <a:r>
              <a:rPr sz="1800" b="0">
                <a:solidFill>
                  <a:srgbClr val="1B2631"/>
                </a:solidFill>
                <a:latin typeface="Calibri"/>
              </a:rPr>
              <a:t>Har bir belgiga 2–3 soniya</a:t>
            </a:r>
          </a:p>
        </p:txBody>
      </p:sp>
      <p:sp>
        <p:nvSpPr>
          <p:cNvPr id="16" name="Rounded Rectangle 15"/>
          <p:cNvSpPr/>
          <p:nvPr/>
        </p:nvSpPr>
        <p:spPr>
          <a:xfrm>
            <a:off x="457200" y="4306824"/>
            <a:ext cx="57607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306824"/>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306824"/>
            <a:ext cx="5440680" cy="859536"/>
          </a:xfrm>
          <a:prstGeom prst="rect">
            <a:avLst/>
          </a:prstGeom>
          <a:noFill/>
        </p:spPr>
        <p:txBody>
          <a:bodyPr wrap="square" anchor="ctr">
            <a:spAutoFit/>
          </a:bodyPr>
          <a:lstStyle/>
          <a:p>
            <a:pPr algn="l"/>
            <a:r>
              <a:rPr sz="1800" b="0">
                <a:solidFill>
                  <a:srgbClr val="1B2631"/>
                </a:solidFill>
                <a:latin typeface="Calibri"/>
              </a:rPr>
              <a:t>Norma: Visus = 1,0</a:t>
            </a:r>
          </a:p>
        </p:txBody>
      </p:sp>
      <p:sp>
        <p:nvSpPr>
          <p:cNvPr id="19" name="Rounded Rectangle 18"/>
          <p:cNvSpPr/>
          <p:nvPr/>
        </p:nvSpPr>
        <p:spPr>
          <a:xfrm>
            <a:off x="457200" y="5285232"/>
            <a:ext cx="57607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5285232"/>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285232"/>
            <a:ext cx="5440680" cy="859536"/>
          </a:xfrm>
          <a:prstGeom prst="rect">
            <a:avLst/>
          </a:prstGeom>
          <a:noFill/>
        </p:spPr>
        <p:txBody>
          <a:bodyPr wrap="square" anchor="ctr">
            <a:spAutoFit/>
          </a:bodyPr>
          <a:lstStyle/>
          <a:p>
            <a:pPr algn="l"/>
            <a:r>
              <a:rPr sz="1800" b="0">
                <a:solidFill>
                  <a:srgbClr val="1B2631"/>
                </a:solidFill>
                <a:latin typeface="Calibri"/>
              </a:rPr>
              <a:t>Snellen formulasi: V = d / D</a:t>
            </a:r>
          </a:p>
        </p:txBody>
      </p:sp>
      <p:pic>
        <p:nvPicPr>
          <p:cNvPr id="22" name="Picture 21" descr="04_sivtsev_jadvali.png"/>
          <p:cNvPicPr>
            <a:picLocks noChangeAspect="1"/>
          </p:cNvPicPr>
          <p:nvPr/>
        </p:nvPicPr>
        <p:blipFill>
          <a:blip r:embed="rId2"/>
          <a:stretch>
            <a:fillRect/>
          </a:stretch>
        </p:blipFill>
        <p:spPr>
          <a:xfrm>
            <a:off x="6978650" y="1280160"/>
            <a:ext cx="4330700" cy="50292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77240"/>
          </a:xfrm>
          <a:prstGeom prst="rect">
            <a:avLst/>
          </a:prstGeom>
          <a:noFill/>
        </p:spPr>
        <p:txBody>
          <a:bodyPr wrap="square" anchor="ctr">
            <a:spAutoFit/>
          </a:bodyPr>
          <a:lstStyle/>
          <a:p>
            <a:pPr algn="l"/>
            <a:r>
              <a:rPr sz="3000" b="1">
                <a:solidFill>
                  <a:srgbClr val="FFFFFF"/>
                </a:solidFill>
                <a:latin typeface="Calibri"/>
              </a:rPr>
              <a:t>Ko‘ruv maydoni va rang ko‘rish</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r>
              <a:rPr sz="1100" b="0">
                <a:solidFill>
                  <a:srgbClr val="5D6D7E"/>
                </a:solidFill>
                <a:latin typeface="Calibri"/>
              </a:rPr>
              <a:t>Oftalmologiyada hamshiralik ishi  |  Axmedova Roxila</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100" b="0">
                <a:solidFill>
                  <a:srgbClr val="5D6D7E"/>
                </a:solidFill>
                <a:latin typeface="Calibri"/>
              </a:rPr>
              <a:t>17/19</a:t>
            </a:r>
          </a:p>
        </p:txBody>
      </p:sp>
      <p:sp>
        <p:nvSpPr>
          <p:cNvPr id="7" name="Rounded Rectangle 6"/>
          <p:cNvSpPr/>
          <p:nvPr/>
        </p:nvSpPr>
        <p:spPr>
          <a:xfrm>
            <a:off x="457200" y="1371600"/>
            <a:ext cx="57607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71600"/>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371600"/>
            <a:ext cx="5440680" cy="896112"/>
          </a:xfrm>
          <a:prstGeom prst="rect">
            <a:avLst/>
          </a:prstGeom>
          <a:noFill/>
        </p:spPr>
        <p:txBody>
          <a:bodyPr wrap="square" anchor="ctr">
            <a:spAutoFit/>
          </a:bodyPr>
          <a:lstStyle/>
          <a:p>
            <a:pPr algn="l"/>
            <a:r>
              <a:rPr sz="1800" b="0">
                <a:solidFill>
                  <a:srgbClr val="1B2631"/>
                </a:solidFill>
                <a:latin typeface="Calibri"/>
              </a:rPr>
              <a:t>Oq rang chegaralari: tashqi 90°, pastki 65°, ichki 55°, yuqori 50°</a:t>
            </a:r>
          </a:p>
        </p:txBody>
      </p:sp>
      <p:sp>
        <p:nvSpPr>
          <p:cNvPr id="10" name="Rounded Rectangle 9"/>
          <p:cNvSpPr/>
          <p:nvPr/>
        </p:nvSpPr>
        <p:spPr>
          <a:xfrm>
            <a:off x="457200" y="2386584"/>
            <a:ext cx="57607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386584"/>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386584"/>
            <a:ext cx="5440680" cy="896112"/>
          </a:xfrm>
          <a:prstGeom prst="rect">
            <a:avLst/>
          </a:prstGeom>
          <a:noFill/>
        </p:spPr>
        <p:txBody>
          <a:bodyPr wrap="square" anchor="ctr">
            <a:spAutoFit/>
          </a:bodyPr>
          <a:lstStyle/>
          <a:p>
            <a:pPr algn="l"/>
            <a:r>
              <a:rPr sz="1800" b="0">
                <a:solidFill>
                  <a:srgbClr val="1B2631"/>
                </a:solidFill>
                <a:latin typeface="Calibri"/>
              </a:rPr>
              <a:t>Perimetriya – perimetrda tekshirish</a:t>
            </a:r>
          </a:p>
        </p:txBody>
      </p:sp>
      <p:sp>
        <p:nvSpPr>
          <p:cNvPr id="13" name="Rounded Rectangle 12"/>
          <p:cNvSpPr/>
          <p:nvPr/>
        </p:nvSpPr>
        <p:spPr>
          <a:xfrm>
            <a:off x="457200" y="3401568"/>
            <a:ext cx="57607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401568"/>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401568"/>
            <a:ext cx="5440680" cy="896112"/>
          </a:xfrm>
          <a:prstGeom prst="rect">
            <a:avLst/>
          </a:prstGeom>
          <a:noFill/>
        </p:spPr>
        <p:txBody>
          <a:bodyPr wrap="square" anchor="ctr">
            <a:spAutoFit/>
          </a:bodyPr>
          <a:lstStyle/>
          <a:p>
            <a:pPr algn="l"/>
            <a:r>
              <a:rPr sz="1800" b="0">
                <a:solidFill>
                  <a:srgbClr val="1B2631"/>
                </a:solidFill>
                <a:latin typeface="Calibri"/>
              </a:rPr>
              <a:t>Rabkin polixromatik jadvallari</a:t>
            </a:r>
          </a:p>
        </p:txBody>
      </p:sp>
      <p:sp>
        <p:nvSpPr>
          <p:cNvPr id="16" name="Rounded Rectangle 15"/>
          <p:cNvSpPr/>
          <p:nvPr/>
        </p:nvSpPr>
        <p:spPr>
          <a:xfrm>
            <a:off x="457200" y="4416552"/>
            <a:ext cx="5760720" cy="896112"/>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416552"/>
            <a:ext cx="109728" cy="89611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416552"/>
            <a:ext cx="5440680" cy="896112"/>
          </a:xfrm>
          <a:prstGeom prst="rect">
            <a:avLst/>
          </a:prstGeom>
          <a:noFill/>
        </p:spPr>
        <p:txBody>
          <a:bodyPr wrap="square" anchor="ctr">
            <a:spAutoFit/>
          </a:bodyPr>
          <a:lstStyle/>
          <a:p>
            <a:pPr algn="l"/>
            <a:r>
              <a:rPr sz="1800" b="0">
                <a:solidFill>
                  <a:srgbClr val="1B2631"/>
                </a:solidFill>
                <a:latin typeface="Calibri"/>
              </a:rPr>
              <a:t>Protanopiya, deyteranopiya, tritanopiya</a:t>
            </a:r>
          </a:p>
        </p:txBody>
      </p:sp>
      <p:pic>
        <p:nvPicPr>
          <p:cNvPr id="19" name="Picture 18" descr="05_koruv_maydoni.png"/>
          <p:cNvPicPr>
            <a:picLocks noChangeAspect="1"/>
          </p:cNvPicPr>
          <p:nvPr/>
        </p:nvPicPr>
        <p:blipFill>
          <a:blip r:embed="rId2"/>
          <a:stretch>
            <a:fillRect/>
          </a:stretch>
        </p:blipFill>
        <p:spPr>
          <a:xfrm>
            <a:off x="6492240" y="1422133"/>
            <a:ext cx="5303520" cy="4745254"/>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77240"/>
          </a:xfrm>
          <a:prstGeom prst="rect">
            <a:avLst/>
          </a:prstGeom>
          <a:noFill/>
        </p:spPr>
        <p:txBody>
          <a:bodyPr wrap="square" anchor="ctr">
            <a:spAutoFit/>
          </a:bodyPr>
          <a:lstStyle/>
          <a:p>
            <a:pPr algn="l"/>
            <a:r>
              <a:rPr sz="3000" b="1">
                <a:solidFill>
                  <a:srgbClr val="FFFFFF"/>
                </a:solidFill>
                <a:latin typeface="Calibri"/>
              </a:rPr>
              <a:t>Yorug‘lik sezish va binokulyar ko‘rish</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r>
              <a:rPr sz="1100" b="0">
                <a:solidFill>
                  <a:srgbClr val="5D6D7E"/>
                </a:solidFill>
                <a:latin typeface="Calibri"/>
              </a:rPr>
              <a:t>Oftalmologiyada hamshiralik ishi  |  Axmedova Roxila</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100" b="0">
                <a:solidFill>
                  <a:srgbClr val="5D6D7E"/>
                </a:solidFill>
                <a:latin typeface="Calibri"/>
              </a:rPr>
              <a:t>18/19</a:t>
            </a:r>
          </a:p>
        </p:txBody>
      </p:sp>
      <p:sp>
        <p:nvSpPr>
          <p:cNvPr id="7" name="Rounded Rectangle 6"/>
          <p:cNvSpPr/>
          <p:nvPr/>
        </p:nvSpPr>
        <p:spPr>
          <a:xfrm>
            <a:off x="457200" y="1371600"/>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71600"/>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371600"/>
            <a:ext cx="10927080" cy="859536"/>
          </a:xfrm>
          <a:prstGeom prst="rect">
            <a:avLst/>
          </a:prstGeom>
          <a:noFill/>
        </p:spPr>
        <p:txBody>
          <a:bodyPr wrap="square" anchor="ctr">
            <a:spAutoFit/>
          </a:bodyPr>
          <a:lstStyle/>
          <a:p>
            <a:pPr algn="l"/>
            <a:r>
              <a:rPr sz="2100" b="0">
                <a:solidFill>
                  <a:srgbClr val="1B2631"/>
                </a:solidFill>
                <a:latin typeface="Calibri"/>
              </a:rPr>
              <a:t>Qorong‘ilikka moslashish 40–60 daqiqa</a:t>
            </a:r>
          </a:p>
        </p:txBody>
      </p:sp>
      <p:sp>
        <p:nvSpPr>
          <p:cNvPr id="10" name="Rounded Rectangle 9"/>
          <p:cNvSpPr/>
          <p:nvPr/>
        </p:nvSpPr>
        <p:spPr>
          <a:xfrm>
            <a:off x="457200" y="2350008"/>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350008"/>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350008"/>
            <a:ext cx="10927080" cy="859536"/>
          </a:xfrm>
          <a:prstGeom prst="rect">
            <a:avLst/>
          </a:prstGeom>
          <a:noFill/>
        </p:spPr>
        <p:txBody>
          <a:bodyPr wrap="square" anchor="ctr">
            <a:spAutoFit/>
          </a:bodyPr>
          <a:lstStyle/>
          <a:p>
            <a:pPr algn="l"/>
            <a:r>
              <a:rPr sz="2100" b="0">
                <a:solidFill>
                  <a:srgbClr val="1B2631"/>
                </a:solidFill>
                <a:latin typeface="Calibri"/>
              </a:rPr>
              <a:t>Gemeralopiya – “tovuq ko‘rlik”, A vitamini yetishmovchiligi</a:t>
            </a:r>
          </a:p>
        </p:txBody>
      </p:sp>
      <p:sp>
        <p:nvSpPr>
          <p:cNvPr id="13" name="Rounded Rectangle 12"/>
          <p:cNvSpPr/>
          <p:nvPr/>
        </p:nvSpPr>
        <p:spPr>
          <a:xfrm>
            <a:off x="457200" y="3328416"/>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328416"/>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328416"/>
            <a:ext cx="10927080" cy="859536"/>
          </a:xfrm>
          <a:prstGeom prst="rect">
            <a:avLst/>
          </a:prstGeom>
          <a:noFill/>
        </p:spPr>
        <p:txBody>
          <a:bodyPr wrap="square" anchor="ctr">
            <a:spAutoFit/>
          </a:bodyPr>
          <a:lstStyle/>
          <a:p>
            <a:pPr algn="l"/>
            <a:r>
              <a:rPr sz="2100" b="0">
                <a:solidFill>
                  <a:srgbClr val="1B2631"/>
                </a:solidFill>
                <a:latin typeface="Calibri"/>
              </a:rPr>
              <a:t>Binokulyar ko‘rish – ikki tasvirning qo‘shilishi (fuziya)</a:t>
            </a:r>
          </a:p>
        </p:txBody>
      </p:sp>
      <p:sp>
        <p:nvSpPr>
          <p:cNvPr id="16" name="Rounded Rectangle 15"/>
          <p:cNvSpPr/>
          <p:nvPr/>
        </p:nvSpPr>
        <p:spPr>
          <a:xfrm>
            <a:off x="457200" y="4306824"/>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306824"/>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306824"/>
            <a:ext cx="10927080" cy="859536"/>
          </a:xfrm>
          <a:prstGeom prst="rect">
            <a:avLst/>
          </a:prstGeom>
          <a:noFill/>
        </p:spPr>
        <p:txBody>
          <a:bodyPr wrap="square" anchor="ctr">
            <a:spAutoFit/>
          </a:bodyPr>
          <a:lstStyle/>
          <a:p>
            <a:pPr algn="l"/>
            <a:r>
              <a:rPr sz="2100" b="0">
                <a:solidFill>
                  <a:srgbClr val="1B2631"/>
                </a:solidFill>
                <a:latin typeface="Calibri"/>
              </a:rPr>
              <a:t>Sokolov sinamasi, qalamlar bilan sinama</a:t>
            </a:r>
          </a:p>
        </p:txBody>
      </p:sp>
      <p:sp>
        <p:nvSpPr>
          <p:cNvPr id="19" name="Rounded Rectangle 18"/>
          <p:cNvSpPr/>
          <p:nvPr/>
        </p:nvSpPr>
        <p:spPr>
          <a:xfrm>
            <a:off x="457200" y="5285232"/>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5285232"/>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285232"/>
            <a:ext cx="10927080" cy="859536"/>
          </a:xfrm>
          <a:prstGeom prst="rect">
            <a:avLst/>
          </a:prstGeom>
          <a:noFill/>
        </p:spPr>
        <p:txBody>
          <a:bodyPr wrap="square" anchor="ctr">
            <a:spAutoFit/>
          </a:bodyPr>
          <a:lstStyle/>
          <a:p>
            <a:pPr algn="l"/>
            <a:r>
              <a:rPr sz="2100" b="0">
                <a:solidFill>
                  <a:srgbClr val="1B2631"/>
                </a:solidFill>
                <a:latin typeface="Calibri"/>
              </a:rPr>
              <a:t>Haydovchi, uchuvchi, jarroh uchun muhim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F39C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77240"/>
          </a:xfrm>
          <a:prstGeom prst="rect">
            <a:avLst/>
          </a:prstGeom>
          <a:noFill/>
        </p:spPr>
        <p:txBody>
          <a:bodyPr wrap="square" anchor="ctr">
            <a:spAutoFit/>
          </a:bodyPr>
          <a:lstStyle/>
          <a:p>
            <a:pPr algn="l"/>
            <a:r>
              <a:rPr sz="3000" b="1">
                <a:solidFill>
                  <a:srgbClr val="FFFFFF"/>
                </a:solidFill>
                <a:latin typeface="Calibri"/>
              </a:rPr>
              <a:t>Xulosa</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r>
              <a:rPr sz="1100" b="0">
                <a:solidFill>
                  <a:srgbClr val="5D6D7E"/>
                </a:solidFill>
                <a:latin typeface="Calibri"/>
              </a:rPr>
              <a:t>Oftalmologiyada hamshiralik ishi  |  Axmedova Roxila</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r>
              <a:rPr sz="1100" b="0">
                <a:solidFill>
                  <a:srgbClr val="5D6D7E"/>
                </a:solidFill>
                <a:latin typeface="Calibri"/>
              </a:rPr>
              <a:t>19/19</a:t>
            </a:r>
          </a:p>
        </p:txBody>
      </p:sp>
      <p:sp>
        <p:nvSpPr>
          <p:cNvPr id="7" name="Rounded Rectangle 6"/>
          <p:cNvSpPr/>
          <p:nvPr/>
        </p:nvSpPr>
        <p:spPr>
          <a:xfrm>
            <a:off x="457200" y="1371600"/>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71600"/>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371600"/>
            <a:ext cx="10927080" cy="859536"/>
          </a:xfrm>
          <a:prstGeom prst="rect">
            <a:avLst/>
          </a:prstGeom>
          <a:noFill/>
        </p:spPr>
        <p:txBody>
          <a:bodyPr wrap="square" anchor="ctr">
            <a:spAutoFit/>
          </a:bodyPr>
          <a:lstStyle/>
          <a:p>
            <a:pPr algn="l"/>
            <a:r>
              <a:rPr sz="2100" b="0">
                <a:solidFill>
                  <a:srgbClr val="1B2631"/>
                </a:solidFill>
                <a:latin typeface="Calibri"/>
              </a:rPr>
              <a:t>Oftalmologiya – ijtimoiy ahamiyati yuqori klinik fan</a:t>
            </a:r>
          </a:p>
        </p:txBody>
      </p:sp>
      <p:sp>
        <p:nvSpPr>
          <p:cNvPr id="10" name="Rounded Rectangle 9"/>
          <p:cNvSpPr/>
          <p:nvPr/>
        </p:nvSpPr>
        <p:spPr>
          <a:xfrm>
            <a:off x="457200" y="2350008"/>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350008"/>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350008"/>
            <a:ext cx="10927080" cy="859536"/>
          </a:xfrm>
          <a:prstGeom prst="rect">
            <a:avLst/>
          </a:prstGeom>
          <a:noFill/>
        </p:spPr>
        <p:txBody>
          <a:bodyPr wrap="square" anchor="ctr">
            <a:spAutoFit/>
          </a:bodyPr>
          <a:lstStyle/>
          <a:p>
            <a:pPr algn="l"/>
            <a:r>
              <a:rPr sz="2100" b="0">
                <a:solidFill>
                  <a:srgbClr val="1B2631"/>
                </a:solidFill>
                <a:latin typeface="Calibri"/>
              </a:rPr>
              <a:t>Ibn Sino merosi – faxrimiz</a:t>
            </a:r>
          </a:p>
        </p:txBody>
      </p:sp>
      <p:sp>
        <p:nvSpPr>
          <p:cNvPr id="13" name="Rounded Rectangle 12"/>
          <p:cNvSpPr/>
          <p:nvPr/>
        </p:nvSpPr>
        <p:spPr>
          <a:xfrm>
            <a:off x="457200" y="3328416"/>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328416"/>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328416"/>
            <a:ext cx="10927080" cy="859536"/>
          </a:xfrm>
          <a:prstGeom prst="rect">
            <a:avLst/>
          </a:prstGeom>
          <a:noFill/>
        </p:spPr>
        <p:txBody>
          <a:bodyPr wrap="square" anchor="ctr">
            <a:spAutoFit/>
          </a:bodyPr>
          <a:lstStyle/>
          <a:p>
            <a:pPr algn="l"/>
            <a:r>
              <a:rPr sz="2100" b="0">
                <a:solidFill>
                  <a:srgbClr val="1B2631"/>
                </a:solidFill>
                <a:latin typeface="Calibri"/>
              </a:rPr>
              <a:t>Ko‘z olmasi: 3 parda + 3 tiniq muhit</a:t>
            </a:r>
          </a:p>
        </p:txBody>
      </p:sp>
      <p:sp>
        <p:nvSpPr>
          <p:cNvPr id="16" name="Rounded Rectangle 15"/>
          <p:cNvSpPr/>
          <p:nvPr/>
        </p:nvSpPr>
        <p:spPr>
          <a:xfrm>
            <a:off x="457200" y="4306824"/>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306824"/>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306824"/>
            <a:ext cx="10927080" cy="859536"/>
          </a:xfrm>
          <a:prstGeom prst="rect">
            <a:avLst/>
          </a:prstGeom>
          <a:noFill/>
        </p:spPr>
        <p:txBody>
          <a:bodyPr wrap="square" anchor="ctr">
            <a:spAutoFit/>
          </a:bodyPr>
          <a:lstStyle/>
          <a:p>
            <a:pPr algn="l"/>
            <a:r>
              <a:rPr sz="2100" b="0">
                <a:solidFill>
                  <a:srgbClr val="1B2631"/>
                </a:solidFill>
                <a:latin typeface="Calibri"/>
              </a:rPr>
              <a:t>5 ta ko‘rish funksiyasi va ularni tekshirish</a:t>
            </a:r>
          </a:p>
        </p:txBody>
      </p:sp>
      <p:sp>
        <p:nvSpPr>
          <p:cNvPr id="19" name="Rounded Rectangle 18"/>
          <p:cNvSpPr/>
          <p:nvPr/>
        </p:nvSpPr>
        <p:spPr>
          <a:xfrm>
            <a:off x="457200" y="5285232"/>
            <a:ext cx="11247120" cy="859536"/>
          </a:xfrm>
          <a:prstGeom prst="roundRect">
            <a:avLst>
              <a:gd name="adj" fmla="val 18000"/>
            </a:avLst>
          </a:prstGeom>
          <a:solidFill>
            <a:srgbClr val="EA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5285232"/>
            <a:ext cx="109728" cy="8595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285232"/>
            <a:ext cx="10927080" cy="859536"/>
          </a:xfrm>
          <a:prstGeom prst="rect">
            <a:avLst/>
          </a:prstGeom>
          <a:noFill/>
        </p:spPr>
        <p:txBody>
          <a:bodyPr wrap="square" anchor="ctr">
            <a:spAutoFit/>
          </a:bodyPr>
          <a:lstStyle/>
          <a:p>
            <a:pPr algn="l"/>
            <a:r>
              <a:rPr sz="2100" b="0">
                <a:solidFill>
                  <a:srgbClr val="1B2631"/>
                </a:solidFill>
                <a:latin typeface="Calibri"/>
              </a:rPr>
              <a:t>Hamshira – erta aniqlash va profilaktikada asosiy shaxs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