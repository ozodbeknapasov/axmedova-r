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Bu amaliy mashg‘ulotda ko‘z kabinetining tuzilishi, bemorni tekshirish usullari va asosiy hamshiralik muolajalarini o‘rganamiz.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uch qismdan iborat: ko‘z kabineti, tekshirish usullari va amaliy muolajalar. Har bir muolajani juftlikda mashq qilasiz.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 tekshiruvi uchun ikki xona ajratiladi. Yorug‘ xona besh metrga uch yarim metr, unda ko‘rish o‘tkirligi tekshiriladi. Qorong‘i xona uch yarim metrga bir yarim metr bo‘lib, unda yon yoritish va oftalmoskopiya bajariladi.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Kabinetda Rot apparati, jadvallar, perimetr, sinov linzalari, oftalmoskop, tonometr va muolaja vositalari bo‘ladi. Hamshira ish boshlanishidan oldin ularni tayyorlaydi.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Yon yoritishda lampa nuri o‘n uch dioptriyali lupa bilan ko‘zning oldingi qismiga jamlanadi. O‘tuvchi nurda esa qorachiq qizil ravshanlanadi, tiniq muhitlardagi xiralanishlar qora dog‘ shaklida ko‘rinadi.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Palpator usulda bemor pastga qaraydi, ikki ko‘rsatkich barmoq bilan ko‘z yengil bosiladi. Aniq o‘lchash Maklakov tonometri bilan bajariladi, normasi o‘n sakkizdan yigirma olti millimetr simob ustunigacha.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Rabkin jadvallari kunduzgi yorug‘likda, bir metr masofada ko‘rsatiladi. Har bir jadval uchun besh-o‘n soniya beriladi. Natija hujjatga yoziladi.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Tomchi dori pastki o‘tish burmasiga tomiziladi. Malham shisha tayoqcha bilan qo‘yiladi. Monokulyar bog‘lamda bint quloqni bosmasligi kerak. Barcha muolajalar aseptika qoidalari bilan bajariladi.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Xulosa: to‘g‘ri tashkil etilgan kabinet va tartibli muolajalar sifatli parvarish asosidir. Endi amaliy topshiriqlarni bajaring.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051560"/>
            <a:ext cx="1097280" cy="73152"/>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10972800" cy="457200"/>
          </a:xfrm>
          <a:prstGeom prst="rect">
            <a:avLst/>
          </a:prstGeom>
          <a:noFill/>
        </p:spPr>
        <p:txBody>
          <a:bodyPr wrap="square" anchor="t">
            <a:spAutoFit/>
          </a:bodyPr>
          <a:lstStyle/>
          <a:p>
            <a:pPr algn="l"/>
            <a:r>
              <a:rPr sz="2000" b="0">
                <a:solidFill>
                  <a:srgbClr val="D6EEF2"/>
                </a:solidFill>
                <a:latin typeface="Calibri"/>
              </a:rPr>
              <a:t>“Oftalmologiyada hamshiralik ishi” moduli  •  A-1 (Amaliy mashg‘ulot)</a:t>
            </a:r>
          </a:p>
        </p:txBody>
      </p:sp>
      <p:sp>
        <p:nvSpPr>
          <p:cNvPr id="6" name="TextBox 5"/>
          <p:cNvSpPr txBox="1"/>
          <p:nvPr/>
        </p:nvSpPr>
        <p:spPr>
          <a:xfrm>
            <a:off x="640080" y="1280160"/>
            <a:ext cx="10881360" cy="3840480"/>
          </a:xfrm>
          <a:prstGeom prst="rect">
            <a:avLst/>
          </a:prstGeom>
          <a:noFill/>
        </p:spPr>
        <p:txBody>
          <a:bodyPr wrap="square" anchor="t">
            <a:spAutoFit/>
          </a:bodyPr>
          <a:lstStyle/>
          <a:p>
            <a:pPr algn="l"/>
            <a:r>
              <a:rPr sz="2700" b="1">
                <a:solidFill>
                  <a:srgbClr val="FFFFFF"/>
                </a:solidFill>
                <a:latin typeface="Calibri"/>
              </a:rPr>
              <a:t>Shifoxona va poliklinika ko‘z kabinetining tuzilishi va jihozlanishi. Oftalmologik kasalliklar bilan og‘rigan bemorlarni tekshirish va davolashda hamshiralik parvarishi</a:t>
            </a:r>
          </a:p>
        </p:txBody>
      </p:sp>
      <p:sp>
        <p:nvSpPr>
          <p:cNvPr id="7" name="TextBox 6"/>
          <p:cNvSpPr txBox="1"/>
          <p:nvPr/>
        </p:nvSpPr>
        <p:spPr>
          <a:xfrm>
            <a:off x="640080" y="5532120"/>
            <a:ext cx="10881360" cy="1188720"/>
          </a:xfrm>
          <a:prstGeom prst="rect">
            <a:avLst/>
          </a:prstGeom>
          <a:noFill/>
        </p:spPr>
        <p:txBody>
          <a:bodyPr wrap="square" anchor="t">
            <a:spAutoFit/>
          </a:bodyPr>
          <a:lstStyle/>
          <a:p>
            <a:pPr algn="l"/>
            <a:r>
              <a:rPr sz="1700" b="0">
                <a:solidFill>
                  <a:srgbClr val="FFFFFF"/>
                </a:solidFill>
                <a:latin typeface="Calibri"/>
              </a:rPr>
              <a:t>Muallif: Axmedova Roxila, “Oftalmologiya” fani o‘qituvchisi</a:t>
            </a:r>
          </a:p>
          <a:p>
            <a:pPr algn="l"/>
            <a:r>
              <a:rPr sz="1700" b="0">
                <a:solidFill>
                  <a:srgbClr val="FFFFFF"/>
                </a:solidFill>
                <a:latin typeface="Calibri"/>
              </a:rPr>
              <a:t>Shahrisabz Abu Ali ibn Sino nomidagi jamoat salomatligi texnikumi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Mashg‘ulot rejasi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2/9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Ko‘z kabinetining tuzilishi va jihozlari</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Tekshirish usullari va hamshira ishtiroki</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Amaliy muolajalar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Ko‘z kabineti xonalari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3/9</a:t>
            </a:r>
          </a:p>
        </p:txBody>
      </p:sp>
      <p:sp>
        <p:nvSpPr>
          <p:cNvPr id="7" name="Rounded Rectangle 6"/>
          <p:cNvSpPr/>
          <p:nvPr/>
        </p:nvSpPr>
        <p:spPr>
          <a:xfrm>
            <a:off x="457200" y="1371600"/>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440680" cy="896112"/>
          </a:xfrm>
          <a:prstGeom prst="rect">
            <a:avLst/>
          </a:prstGeom>
          <a:noFill/>
        </p:spPr>
        <p:txBody>
          <a:bodyPr wrap="square" anchor="ctr">
            <a:spAutoFit/>
          </a:bodyPr>
          <a:lstStyle/>
          <a:p>
            <a:pPr algn="l"/>
            <a:r>
              <a:rPr sz="1800" b="0">
                <a:solidFill>
                  <a:srgbClr val="1B2631"/>
                </a:solidFill>
                <a:latin typeface="Calibri"/>
              </a:rPr>
              <a:t>Yorug‘ xona: 5 × 3,5 m</a:t>
            </a:r>
          </a:p>
        </p:txBody>
      </p:sp>
      <p:sp>
        <p:nvSpPr>
          <p:cNvPr id="10" name="Rounded Rectangle 9"/>
          <p:cNvSpPr/>
          <p:nvPr/>
        </p:nvSpPr>
        <p:spPr>
          <a:xfrm>
            <a:off x="457200" y="2386584"/>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5440680" cy="896112"/>
          </a:xfrm>
          <a:prstGeom prst="rect">
            <a:avLst/>
          </a:prstGeom>
          <a:noFill/>
        </p:spPr>
        <p:txBody>
          <a:bodyPr wrap="square" anchor="ctr">
            <a:spAutoFit/>
          </a:bodyPr>
          <a:lstStyle/>
          <a:p>
            <a:pPr algn="l"/>
            <a:r>
              <a:rPr sz="1800" b="0">
                <a:solidFill>
                  <a:srgbClr val="1B2631"/>
                </a:solidFill>
                <a:latin typeface="Calibri"/>
              </a:rPr>
              <a:t>Qorong‘i xona: 3,5 × 1,5 m</a:t>
            </a:r>
          </a:p>
        </p:txBody>
      </p:sp>
      <p:sp>
        <p:nvSpPr>
          <p:cNvPr id="13" name="Rounded Rectangle 12"/>
          <p:cNvSpPr/>
          <p:nvPr/>
        </p:nvSpPr>
        <p:spPr>
          <a:xfrm>
            <a:off x="457200" y="3401568"/>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5440680" cy="896112"/>
          </a:xfrm>
          <a:prstGeom prst="rect">
            <a:avLst/>
          </a:prstGeom>
          <a:noFill/>
        </p:spPr>
        <p:txBody>
          <a:bodyPr wrap="square" anchor="ctr">
            <a:spAutoFit/>
          </a:bodyPr>
          <a:lstStyle/>
          <a:p>
            <a:pPr algn="l"/>
            <a:r>
              <a:rPr sz="1800" b="0">
                <a:solidFill>
                  <a:srgbClr val="1B2631"/>
                </a:solidFill>
                <a:latin typeface="Calibri"/>
              </a:rPr>
              <a:t>Muolaja stoli va steril vositalar</a:t>
            </a:r>
          </a:p>
        </p:txBody>
      </p:sp>
      <p:pic>
        <p:nvPicPr>
          <p:cNvPr id="16" name="Picture 15" descr="plakat.jpg"/>
          <p:cNvPicPr>
            <a:picLocks noChangeAspect="1"/>
          </p:cNvPicPr>
          <p:nvPr/>
        </p:nvPicPr>
        <p:blipFill>
          <a:blip r:embed="rId2"/>
          <a:stretch>
            <a:fillRect/>
          </a:stretch>
        </p:blipFill>
        <p:spPr>
          <a:xfrm>
            <a:off x="6492240" y="2027611"/>
            <a:ext cx="5303520" cy="35342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Kabinet jihozlari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4/9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Ko‘rish funksiyalari: jadvallar, perimetr</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Refraksiya: linzalar to‘plami</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Ko‘z ichi: oftalmoskop, tirqishli lampa</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Bosim: Maklakov tonometri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Yon yoritish va o‘tuvchi nur</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5/9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Fokal: lampa va 13 dptr lupa</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Kon’yunktiva, shox parda, rangdor parda</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O‘tuvchi nur: qizil refleks</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Xiralanish: qora dog‘lar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Ko‘z ichi bosimi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6/9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Palpator: Tn, T+1…T+3</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Maklakov tonometri: 10 g</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Norma: 18–26 mm sim. 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Rang ko‘rishni tekshirish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7/9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Kunduzgi yorug‘lik</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Masofa: 1 m</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Har bir jadvalga 5–10 soniya</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Natijani qayd etish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Muolajalar</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8/9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Tomchi: pastki o‘tish burmasiga</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Malham: shisha tayoqcha bilan</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Monokulyar bog‘lam: quloq ochiq</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Aseptika va qayd etish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Xulosa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9/9</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Xonalar va jihozlar tartibda</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Tekshiruvga to‘g‘ri tayyorlash</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Muolaja algoritmiga rioya qilish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